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  <p:sldMasterId id="2147483652" r:id="rId4"/>
  </p:sldMasterIdLst>
  <p:notesMasterIdLst>
    <p:notesMasterId r:id="rId6"/>
  </p:notesMasterIdLst>
  <p:sldIdLst>
    <p:sldId id="256" r:id="rId5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91" r:id="rId23"/>
    <p:sldId id="292" r:id="rId24"/>
    <p:sldId id="293" r:id="rId25"/>
    <p:sldId id="294" r:id="rId26"/>
    <p:sldId id="295" r:id="rId27"/>
    <p:sldId id="296" r:id="rId28"/>
    <p:sldId id="297" r:id="rId29"/>
    <p:sldId id="298" r:id="rId30"/>
    <p:sldId id="299" r:id="rId31"/>
    <p:sldId id="300" r:id="rId32"/>
    <p:sldId id="301" r:id="rId33"/>
    <p:sldId id="302" r:id="rId34"/>
    <p:sldId id="303" r:id="rId35"/>
    <p:sldId id="304" r:id="rId36"/>
    <p:sldId id="305" r:id="rId37"/>
    <p:sldId id="306" r:id="rId38"/>
    <p:sldId id="307" r:id="rId39"/>
    <p:sldId id="308" r:id="rId40"/>
    <p:sldId id="309" r:id="rId41"/>
    <p:sldId id="310" r:id="rId42"/>
    <p:sldId id="311" r:id="rId43"/>
    <p:sldId id="312" r:id="rId44"/>
    <p:sldId id="313" r:id="rId45"/>
    <p:sldId id="314" r:id="rId46"/>
    <p:sldId id="315" r:id="rId47"/>
    <p:sldId id="316" r:id="rId48"/>
    <p:sldId id="317" r:id="rId4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2" Type="http://schemas.openxmlformats.org/officeDocument/2006/relationships/tableStyles" Target="tableStyles.xml"/><Relationship Id="rId51" Type="http://schemas.openxmlformats.org/officeDocument/2006/relationships/viewProps" Target="viewProps.xml"/><Relationship Id="rId50" Type="http://schemas.openxmlformats.org/officeDocument/2006/relationships/presProps" Target="presProps.xml"/><Relationship Id="rId5" Type="http://schemas.openxmlformats.org/officeDocument/2006/relationships/slide" Target="slides/slide1.xml"/><Relationship Id="rId49" Type="http://schemas.openxmlformats.org/officeDocument/2006/relationships/slide" Target="slides/slide4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0" Type="http://schemas.openxmlformats.org/officeDocument/2006/relationships/slide" Target="slides/slide35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النتائج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2E7D32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C0392B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D68910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7F8C8D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layout/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2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2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2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2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8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Pass</c:v>
                </c:pt>
                <c:pt idx="1">
                  <c:v>Fail</c:v>
                </c:pt>
                <c:pt idx="2">
                  <c:v>Blocked</c:v>
                </c:pt>
                <c:pt idx="3">
                  <c:v>N/A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209</c:v>
                </c:pt>
                <c:pt idx="1">
                  <c:v>49</c:v>
                </c:pt>
                <c:pt idx="2">
                  <c:v>33</c:v>
                </c:pt>
                <c:pt idx="3">
                  <c:v>6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eab234e3-21b7-492f-9996-a0106dd2a053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6.png"/></Relationships>
</file>

<file path=ppt/slides/_rels/slide2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3.png"/><Relationship Id="rId1" Type="http://schemas.openxmlformats.org/officeDocument/2006/relationships/image" Target="../media/image17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.xml"/><Relationship Id="rId8" Type="http://schemas.openxmlformats.org/officeDocument/2006/relationships/image" Target="../media/image18.png"/><Relationship Id="rId7" Type="http://schemas.openxmlformats.org/officeDocument/2006/relationships/image" Target="../media/image21.png"/><Relationship Id="rId6" Type="http://schemas.openxmlformats.org/officeDocument/2006/relationships/image" Target="../media/image25.png"/><Relationship Id="rId5" Type="http://schemas.openxmlformats.org/officeDocument/2006/relationships/image" Target="../media/image19.png"/><Relationship Id="rId4" Type="http://schemas.openxmlformats.org/officeDocument/2006/relationships/image" Target="../media/image24.png"/><Relationship Id="rId3" Type="http://schemas.openxmlformats.org/officeDocument/2006/relationships/image" Target="../media/image20.png"/><Relationship Id="rId2" Type="http://schemas.openxmlformats.org/officeDocument/2006/relationships/image" Target="../media/image23.png"/><Relationship Id="rId1" Type="http://schemas.openxmlformats.org/officeDocument/2006/relationships/image" Target="../media/image17.png"/></Relationships>
</file>

<file path=ppt/slides/_rels/slide3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27.png"/><Relationship Id="rId5" Type="http://schemas.openxmlformats.org/officeDocument/2006/relationships/image" Target="../media/image21.png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6.png"/><Relationship Id="rId1" Type="http://schemas.openxmlformats.org/officeDocument/2006/relationships/image" Target="../media/image1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2.png"/><Relationship Id="rId1" Type="http://schemas.openxmlformats.org/officeDocument/2006/relationships/image" Target="../media/image28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9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0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1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2.png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33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7.png"/><Relationship Id="rId1" Type="http://schemas.openxmlformats.org/officeDocument/2006/relationships/image" Target="../media/image21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22.png"/><Relationship Id="rId4" Type="http://schemas.openxmlformats.org/officeDocument/2006/relationships/image" Target="../media/image25.png"/><Relationship Id="rId3" Type="http://schemas.openxmlformats.org/officeDocument/2006/relationships/image" Target="../media/image21.png"/><Relationship Id="rId2" Type="http://schemas.openxmlformats.org/officeDocument/2006/relationships/image" Target="../media/image15.png"/><Relationship Id="rId1" Type="http://schemas.openxmlformats.org/officeDocument/2006/relationships/image" Target="../media/image27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Shape 1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263882"/>
          </a:solidFill>
        </p:spPr>
      </p:sp>
      <p:sp>
        <p:nvSpPr>
          <p:cNvPr id="4" name="Shape 2"/>
          <p:cNvSpPr/>
          <p:nvPr/>
        </p:nvSpPr>
        <p:spPr>
          <a:xfrm>
            <a:off x="-2286000" y="4572000"/>
            <a:ext cx="4572000" cy="4572000"/>
          </a:xfrm>
          <a:prstGeom prst="ellipse">
            <a:avLst/>
          </a:prstGeom>
          <a:solidFill>
            <a:srgbClr val="182055"/>
          </a:solidFill>
        </p:spPr>
      </p:sp>
      <p:sp>
        <p:nvSpPr>
          <p:cNvPr id="5" name="Text 3"/>
          <p:cNvSpPr/>
          <p:nvPr/>
        </p:nvSpPr>
        <p:spPr>
          <a:xfrm>
            <a:off x="822960" y="1874520"/>
            <a:ext cx="10515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kern="0" spc="300" dirty="0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RESTFUL BOOKER PLATFORM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105156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توثيق منهجية عمل Software Tester خلال مشروع الاختبار اليدوي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3337560"/>
            <a:ext cx="10515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1 — Manual Testing  |  automationintesting.online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023360"/>
            <a:ext cx="3840480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06240"/>
            <a:ext cx="10515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إعداد: </a:t>
            </a: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عبدالمنعم السيد</a:t>
            </a:r>
            <a:r>
              <a:rPr lang="en-US" sz="14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—  Test Lead / QA Engineer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5074920"/>
            <a:ext cx="24688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D4A01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297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822960" y="5715000"/>
            <a:ext cx="2468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 Case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5074920"/>
            <a:ext cx="24688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D4A01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19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291840" y="5715000"/>
            <a:ext cx="2468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Defect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760720" y="5074920"/>
            <a:ext cx="24688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D4A01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7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5760720" y="5715000"/>
            <a:ext cx="2468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0" y="5074920"/>
            <a:ext cx="24688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D4A01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8229600" y="5715000"/>
            <a:ext cx="2468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Members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kern="0" spc="100" dirty="0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١ · نظرة عامة على المشروع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121A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المشروع ودوري كـ Test Lead / QA Engineer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675120" cy="4663440"/>
          </a:xfrm>
          <a:prstGeom prst="rect">
            <a:avLst/>
          </a:prstGeom>
          <a:solidFill>
            <a:srgbClr val="F4F6FB"/>
          </a:solidFill>
        </p:spPr>
      </p:sp>
      <p:sp>
        <p:nvSpPr>
          <p:cNvPr id="5" name="Text 3"/>
          <p:cNvSpPr/>
          <p:nvPr/>
        </p:nvSpPr>
        <p:spPr>
          <a:xfrm>
            <a:off x="868680" y="1783080"/>
            <a:ext cx="6035040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400" dirty="0">
                <a:solidFill>
                  <a:srgbClr val="121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الموقع بيسمح لأي زائر (Guest) يتصفح الغرف ويحجز مباشرة من غير تسجيل دخول، وبيسمح للأدمن (Admin) يدير الغرف، يشوف الحجوزات، يتحكم في الـ Branding، ويقرأ رسائل التواصل.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834640"/>
            <a:ext cx="603504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-228600" algn="r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121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دوري: Test Lead / QA Engineer — مسؤول عن موديول Admin Login &amp; Logout مباشرة.</a:t>
            </a:r>
            <a:endParaRPr lang="en-US" sz="1400" dirty="0"/>
          </a:p>
          <a:p>
            <a:pPr marL="228600" indent="-228600" algn="r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21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التنسيق العام بين فريق مكوّن من 4 أعضاء.</a:t>
            </a:r>
            <a:endParaRPr lang="en-US" sz="1400" dirty="0"/>
          </a:p>
          <a:p>
            <a:pPr marL="228600" indent="-228600" algn="r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21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مراجعة واعتماد كل حالات الاختبار قبل التنفيذ.</a:t>
            </a:r>
            <a:endParaRPr lang="en-US" sz="1400" dirty="0"/>
          </a:p>
          <a:p>
            <a:pPr marL="228600" indent="-228600" algn="r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21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متابعة الـ Requirements Traceability Matrix (RTM).</a:t>
            </a:r>
            <a:endParaRPr lang="en-US" sz="1400" dirty="0"/>
          </a:p>
          <a:p>
            <a:pPr marL="228600" indent="-228600" algn="r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21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تجميع تقرير الأخطاء (Bug Report) والتقرير النهائي.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52360" y="1600200"/>
            <a:ext cx="4206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توزيع الموديولات (297 حالة اختبار)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452360" y="2057400"/>
            <a:ext cx="42062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0" y="2112264"/>
            <a:ext cx="246888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121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Admin Login &amp; Logout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0104120" y="2112264"/>
            <a:ext cx="9144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5F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Critical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1018520" y="2112264"/>
            <a:ext cx="59436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452360" y="2624328"/>
            <a:ext cx="42062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0" y="2679192"/>
            <a:ext cx="246888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121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Room Management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104120" y="2679192"/>
            <a:ext cx="9144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5F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1018520" y="2679192"/>
            <a:ext cx="59436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65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452360" y="3191256"/>
            <a:ext cx="42062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0" y="3246120"/>
            <a:ext cx="246888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121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Booking (Reservation)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0104120" y="3246120"/>
            <a:ext cx="9144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5F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Critical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1018520" y="3246120"/>
            <a:ext cx="59436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61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452360" y="3758184"/>
            <a:ext cx="42062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0" y="3813048"/>
            <a:ext cx="246888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121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Contact / Message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0104120" y="3813048"/>
            <a:ext cx="9144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5F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Medium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1018520" y="3813048"/>
            <a:ext cx="59436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53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452360" y="4325112"/>
            <a:ext cx="42062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89520" y="4379976"/>
            <a:ext cx="246888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121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Branding Settings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0104120" y="4379976"/>
            <a:ext cx="9144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5F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1018520" y="4379976"/>
            <a:ext cx="59436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37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452360" y="4892040"/>
            <a:ext cx="42062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89520" y="4946904"/>
            <a:ext cx="246888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121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Reports (Calendar)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0104120" y="4946904"/>
            <a:ext cx="9144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5F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1018520" y="4946904"/>
            <a:ext cx="59436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28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452360" y="5458968"/>
            <a:ext cx="42062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89520" y="5513832"/>
            <a:ext cx="246888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121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Non-Functional &amp; Inverse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0104120" y="5513832"/>
            <a:ext cx="9144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5F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Cross-cutting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1018520" y="5513832"/>
            <a:ext cx="59436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23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452360" y="6080760"/>
            <a:ext cx="4206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إجمالي: 297 حالة اختبار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F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kern="0" spc="100" dirty="0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٢ · المرحلة الأولى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121A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قراءة وتحليل الـ SRS v1.0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30936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350" dirty="0">
                <a:solidFill>
                  <a:srgbClr val="121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الـ SRS هو المرجع الوحيد اللي كل حاجة هتتبني عليه بعد كده (Test Cases، Bug Reports، RTM). أثناء القراءة، كل جملة متطلب اتصنّفت تحت واحدة من 4 فئات: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6309360" cy="896112"/>
          </a:xfrm>
          <a:prstGeom prst="rect">
            <a:avLst/>
          </a:prstGeom>
          <a:solidFill>
            <a:srgbClr val="F4F6FB"/>
          </a:solidFill>
        </p:spPr>
      </p:sp>
      <p:sp>
        <p:nvSpPr>
          <p:cNvPr id="6" name="Shape 4"/>
          <p:cNvSpPr/>
          <p:nvPr/>
        </p:nvSpPr>
        <p:spPr>
          <a:xfrm>
            <a:off x="685800" y="2487168"/>
            <a:ext cx="868680" cy="585216"/>
          </a:xfrm>
          <a:prstGeom prst="roundRect">
            <a:avLst>
              <a:gd name="adj" fmla="val 12500"/>
            </a:avLst>
          </a:prstGeom>
          <a:solidFill>
            <a:srgbClr val="1E2761"/>
          </a:solidFill>
        </p:spPr>
      </p:sp>
      <p:sp>
        <p:nvSpPr>
          <p:cNvPr id="7" name="Text 5"/>
          <p:cNvSpPr/>
          <p:nvPr/>
        </p:nvSpPr>
        <p:spPr>
          <a:xfrm>
            <a:off x="685800" y="2487168"/>
            <a:ext cx="86868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T-xx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91640" y="2404872"/>
            <a:ext cx="5074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21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Technical Requirement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91640" y="2715768"/>
            <a:ext cx="5074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5A5F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قاعدة تحقق على مستوى الحقل — مثال: اسم الغرفة ما ينفعش فاضي.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355848"/>
            <a:ext cx="6309360" cy="896112"/>
          </a:xfrm>
          <a:prstGeom prst="rect">
            <a:avLst/>
          </a:prstGeom>
          <a:solidFill>
            <a:srgbClr val="F4F6FB"/>
          </a:solidFill>
        </p:spPr>
      </p:sp>
      <p:sp>
        <p:nvSpPr>
          <p:cNvPr id="11" name="Shape 9"/>
          <p:cNvSpPr/>
          <p:nvPr/>
        </p:nvSpPr>
        <p:spPr>
          <a:xfrm>
            <a:off x="685800" y="3511296"/>
            <a:ext cx="868680" cy="585216"/>
          </a:xfrm>
          <a:prstGeom prst="roundRect">
            <a:avLst>
              <a:gd name="adj" fmla="val 12500"/>
            </a:avLst>
          </a:prstGeom>
          <a:solidFill>
            <a:srgbClr val="2E4494"/>
          </a:solidFill>
        </p:spPr>
      </p:sp>
      <p:sp>
        <p:nvSpPr>
          <p:cNvPr id="12" name="Text 10"/>
          <p:cNvSpPr/>
          <p:nvPr/>
        </p:nvSpPr>
        <p:spPr>
          <a:xfrm>
            <a:off x="685800" y="3511296"/>
            <a:ext cx="86868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F-xx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691640" y="3429000"/>
            <a:ext cx="5074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21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Functional Requirement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691640" y="3739896"/>
            <a:ext cx="5074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5A5F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قاعدة عمل (business logic) — مثال: الغرفة اللي عليها حجز نشط ما تتمسحش.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379976"/>
            <a:ext cx="6309360" cy="896112"/>
          </a:xfrm>
          <a:prstGeom prst="rect">
            <a:avLst/>
          </a:prstGeom>
          <a:solidFill>
            <a:srgbClr val="F4F6FB"/>
          </a:solidFill>
        </p:spPr>
      </p:sp>
      <p:sp>
        <p:nvSpPr>
          <p:cNvPr id="16" name="Shape 14"/>
          <p:cNvSpPr/>
          <p:nvPr/>
        </p:nvSpPr>
        <p:spPr>
          <a:xfrm>
            <a:off x="685800" y="4535424"/>
            <a:ext cx="868680" cy="585216"/>
          </a:xfrm>
          <a:prstGeom prst="roundRect">
            <a:avLst>
              <a:gd name="adj" fmla="val 12500"/>
            </a:avLst>
          </a:prstGeom>
          <a:solidFill>
            <a:srgbClr val="3D5AC4"/>
          </a:solidFill>
        </p:spPr>
      </p:sp>
      <p:sp>
        <p:nvSpPr>
          <p:cNvPr id="17" name="Text 15"/>
          <p:cNvSpPr/>
          <p:nvPr/>
        </p:nvSpPr>
        <p:spPr>
          <a:xfrm>
            <a:off x="685800" y="4535424"/>
            <a:ext cx="86868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NFR-xx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691640" y="4453128"/>
            <a:ext cx="5074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21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Non-Functional Requirement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91640" y="4764024"/>
            <a:ext cx="5074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5A5F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أداء، أمان، توافق متصفحات، سهولة استخدام.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404104"/>
            <a:ext cx="6309360" cy="896112"/>
          </a:xfrm>
          <a:prstGeom prst="rect">
            <a:avLst/>
          </a:prstGeom>
          <a:solidFill>
            <a:srgbClr val="F4F6FB"/>
          </a:solidFill>
        </p:spPr>
      </p:sp>
      <p:sp>
        <p:nvSpPr>
          <p:cNvPr id="21" name="Shape 19"/>
          <p:cNvSpPr/>
          <p:nvPr/>
        </p:nvSpPr>
        <p:spPr>
          <a:xfrm>
            <a:off x="685800" y="5559552"/>
            <a:ext cx="868680" cy="585216"/>
          </a:xfrm>
          <a:prstGeom prst="roundRect">
            <a:avLst>
              <a:gd name="adj" fmla="val 12500"/>
            </a:avLst>
          </a:prstGeom>
          <a:solidFill>
            <a:srgbClr val="D4A017"/>
          </a:solidFill>
        </p:spPr>
      </p:sp>
      <p:sp>
        <p:nvSpPr>
          <p:cNvPr id="22" name="Text 20"/>
          <p:cNvSpPr/>
          <p:nvPr/>
        </p:nvSpPr>
        <p:spPr>
          <a:xfrm>
            <a:off x="685800" y="5559552"/>
            <a:ext cx="86868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IR-xx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691640" y="5477256"/>
            <a:ext cx="5074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21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Inverse Requirement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691640" y="5788152"/>
            <a:ext cx="5074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5A5F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حاجات لازم النظام ما "يعملهاش" — مثال: منع الحجز المزدوج.</a:t>
            </a:r>
            <a:endParaRPr lang="en-US" sz="1150" dirty="0"/>
          </a:p>
        </p:txBody>
      </p:sp>
      <p:pic>
        <p:nvPicPr>
          <p:cNvPr id="25" name="Image 0" descr="/home/claude/rbp_pptx/img/srs_matrix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1508760"/>
            <a:ext cx="4572000" cy="2176272"/>
          </a:xfrm>
          <a:prstGeom prst="rect">
            <a:avLst/>
          </a:prstGeom>
        </p:spPr>
      </p:pic>
      <p:pic>
        <p:nvPicPr>
          <p:cNvPr id="26" name="Image 1" descr="/home/claude/rbp_pptx/img/srs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3840480"/>
            <a:ext cx="4572000" cy="219456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7086600" y="6108192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5A5F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SRS v1.0 — مصفوفة الوصول للموديولات وغلاف المستند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F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kern="0" spc="100" dirty="0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٢ · المرحلة الأولى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121A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تفصيل قواعد الـ SRS: Admin Login &amp; Room Management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ملاحظة مهمة أثرت على استراتيجية التنفيذ بالكامل: النظام بيعمل reset لحالته الافتراضية كل 10 دقايق (NFR-04)، وأي بيانات اتعملت بتتمسح تلقائيًا.</a:t>
            </a:r>
            <a:endParaRPr lang="en-US" sz="1350" dirty="0"/>
          </a:p>
        </p:txBody>
      </p:sp>
      <p:pic>
        <p:nvPicPr>
          <p:cNvPr id="5" name="Image 0" descr="/home/claude/rbp_pptx/img/srs_admi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48840"/>
            <a:ext cx="11064240" cy="2148840"/>
          </a:xfrm>
          <a:prstGeom prst="rect">
            <a:avLst/>
          </a:prstGeom>
        </p:spPr>
      </p:pic>
      <p:pic>
        <p:nvPicPr>
          <p:cNvPr id="6" name="Image 1" descr="/home/claude/rbp_pptx/img/srs_r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434840"/>
            <a:ext cx="11064240" cy="21488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F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kern="0" spc="100" dirty="0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٣ · المرحلة الثانية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121A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بناء استراتيجية الاختبار — Test Plan v1.1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1572768"/>
          </a:xfrm>
          <a:prstGeom prst="rect">
            <a:avLst/>
          </a:prstGeom>
          <a:solidFill>
            <a:srgbClr val="F4F6FB"/>
          </a:solidFill>
        </p:spPr>
      </p:sp>
      <p:sp>
        <p:nvSpPr>
          <p:cNvPr id="5" name="Shape 3"/>
          <p:cNvSpPr/>
          <p:nvPr/>
        </p:nvSpPr>
        <p:spPr>
          <a:xfrm>
            <a:off x="713232" y="1764792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713232" y="1764792"/>
            <a:ext cx="914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737360" y="1737360"/>
            <a:ext cx="4069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21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Equivalence Partitioning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" y="2313432"/>
            <a:ext cx="5111496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150" dirty="0">
                <a:solidFill>
                  <a:srgbClr val="5A5F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تقسيم المدخلات لفئات صحيحة/غير صحيحة واختبار قيمة تمثيلية من كل فئة.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600200"/>
            <a:ext cx="5440680" cy="1572768"/>
          </a:xfrm>
          <a:prstGeom prst="rect">
            <a:avLst/>
          </a:prstGeom>
          <a:solidFill>
            <a:srgbClr val="F4F6FB"/>
          </a:solidFill>
        </p:spPr>
      </p:sp>
      <p:sp>
        <p:nvSpPr>
          <p:cNvPr id="10" name="Shape 8"/>
          <p:cNvSpPr/>
          <p:nvPr/>
        </p:nvSpPr>
        <p:spPr>
          <a:xfrm>
            <a:off x="6336792" y="1764792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</p:spPr>
      </p:sp>
      <p:sp>
        <p:nvSpPr>
          <p:cNvPr id="11" name="Text 9"/>
          <p:cNvSpPr/>
          <p:nvPr/>
        </p:nvSpPr>
        <p:spPr>
          <a:xfrm>
            <a:off x="6336792" y="1764792"/>
            <a:ext cx="914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BVA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60920" y="1737360"/>
            <a:ext cx="4069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21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Boundary Value Analysis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36792" y="2313432"/>
            <a:ext cx="5111496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150" dirty="0">
                <a:solidFill>
                  <a:srgbClr val="5A5F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اختبار عند حدود القيم بالظبط — مثال: First Name بين 3 و18 حرف.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355848"/>
            <a:ext cx="5440680" cy="1572768"/>
          </a:xfrm>
          <a:prstGeom prst="rect">
            <a:avLst/>
          </a:prstGeom>
          <a:solidFill>
            <a:srgbClr val="F4F6FB"/>
          </a:solidFill>
        </p:spPr>
      </p:sp>
      <p:sp>
        <p:nvSpPr>
          <p:cNvPr id="15" name="Shape 13"/>
          <p:cNvSpPr/>
          <p:nvPr/>
        </p:nvSpPr>
        <p:spPr>
          <a:xfrm>
            <a:off x="713232" y="3520440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</p:spPr>
      </p:sp>
      <p:sp>
        <p:nvSpPr>
          <p:cNvPr id="16" name="Text 14"/>
          <p:cNvSpPr/>
          <p:nvPr/>
        </p:nvSpPr>
        <p:spPr>
          <a:xfrm>
            <a:off x="713232" y="3520440"/>
            <a:ext cx="914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DTT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737360" y="3493008"/>
            <a:ext cx="4069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21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Decision Table Testing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13232" y="4069080"/>
            <a:ext cx="5111496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150" dirty="0">
                <a:solidFill>
                  <a:srgbClr val="5A5F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تجميع أكتر من شرط مع بعض — Admin Login وRoom Management.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3355848"/>
            <a:ext cx="5440680" cy="1572768"/>
          </a:xfrm>
          <a:prstGeom prst="rect">
            <a:avLst/>
          </a:prstGeom>
          <a:solidFill>
            <a:srgbClr val="F4F6FB"/>
          </a:solidFill>
        </p:spPr>
      </p:sp>
      <p:sp>
        <p:nvSpPr>
          <p:cNvPr id="20" name="Shape 18"/>
          <p:cNvSpPr/>
          <p:nvPr/>
        </p:nvSpPr>
        <p:spPr>
          <a:xfrm>
            <a:off x="6336792" y="3520440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</p:spPr>
      </p:sp>
      <p:sp>
        <p:nvSpPr>
          <p:cNvPr id="21" name="Text 19"/>
          <p:cNvSpPr/>
          <p:nvPr/>
        </p:nvSpPr>
        <p:spPr>
          <a:xfrm>
            <a:off x="6336792" y="3520440"/>
            <a:ext cx="914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STT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60920" y="3493008"/>
            <a:ext cx="4069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21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State Transition Testing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36792" y="4069080"/>
            <a:ext cx="5111496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150" dirty="0">
                <a:solidFill>
                  <a:srgbClr val="5A5F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تقويم الحجز: Available → Selected → Confirmed → Blocked.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111496"/>
            <a:ext cx="5440680" cy="1572768"/>
          </a:xfrm>
          <a:prstGeom prst="rect">
            <a:avLst/>
          </a:prstGeom>
          <a:solidFill>
            <a:srgbClr val="F4F6FB"/>
          </a:solidFill>
        </p:spPr>
      </p:sp>
      <p:sp>
        <p:nvSpPr>
          <p:cNvPr id="25" name="Shape 23"/>
          <p:cNvSpPr/>
          <p:nvPr/>
        </p:nvSpPr>
        <p:spPr>
          <a:xfrm>
            <a:off x="713232" y="5276088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</p:spPr>
      </p:sp>
      <p:sp>
        <p:nvSpPr>
          <p:cNvPr id="26" name="Text 24"/>
          <p:cNvSpPr/>
          <p:nvPr/>
        </p:nvSpPr>
        <p:spPr>
          <a:xfrm>
            <a:off x="713232" y="5276088"/>
            <a:ext cx="914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Negative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737360" y="5248656"/>
            <a:ext cx="4069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21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Negative Testing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13232" y="5824728"/>
            <a:ext cx="5111496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150" dirty="0">
                <a:solidFill>
                  <a:srgbClr val="5A5F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بيانات غير صحيحة/ناقصة والتأكد من رسالة الخطأ الصحيحة.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172200" y="5111496"/>
            <a:ext cx="5440680" cy="1572768"/>
          </a:xfrm>
          <a:prstGeom prst="rect">
            <a:avLst/>
          </a:prstGeom>
          <a:solidFill>
            <a:srgbClr val="F4F6FB"/>
          </a:solidFill>
        </p:spPr>
      </p:sp>
      <p:sp>
        <p:nvSpPr>
          <p:cNvPr id="30" name="Shape 28"/>
          <p:cNvSpPr/>
          <p:nvPr/>
        </p:nvSpPr>
        <p:spPr>
          <a:xfrm>
            <a:off x="6336792" y="5276088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</p:spPr>
      </p:sp>
      <p:sp>
        <p:nvSpPr>
          <p:cNvPr id="31" name="Text 29"/>
          <p:cNvSpPr/>
          <p:nvPr/>
        </p:nvSpPr>
        <p:spPr>
          <a:xfrm>
            <a:off x="6336792" y="5276088"/>
            <a:ext cx="914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Security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360920" y="5248656"/>
            <a:ext cx="4069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21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 Testing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36792" y="5824728"/>
            <a:ext cx="5111496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150" dirty="0">
                <a:solidFill>
                  <a:srgbClr val="5A5F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 Injection وXSS في كل حقول الإدخال + وصول مباشر لـ /admin.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F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828800"/>
            <a:ext cx="4572000" cy="4572000"/>
          </a:xfrm>
          <a:prstGeom prst="ellipse">
            <a:avLst/>
          </a:prstGeom>
          <a:solidFill>
            <a:srgbClr val="263882"/>
          </a:solidFill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kern="0" spc="100" dirty="0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٣ · المرحلة الثانية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إدارة بيانات الاختبار في ظل الـ Reset كل 10 دقايق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6400800" cy="4206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كل Test Case لازم تكون self-contained — تنشئ بياناتها بنفسها في البداية.</a:t>
            </a:r>
            <a:endParaRPr lang="en-US" sz="1400" dirty="0"/>
          </a:p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التحقق من حالة البيئة (Environment State) قبل بدء أي جلسة وبعد أي reset متوقع.</a:t>
            </a:r>
            <a:endParaRPr lang="en-US" sz="1400" dirty="0"/>
          </a:p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بيانات الدخول الافتراضية (admin/password) ثابتة ومش بتتأثر بالـ reset.</a:t>
            </a:r>
            <a:endParaRPr lang="en-US" sz="1400" dirty="0"/>
          </a:p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الحالات الحرجة (Admin Login، منع الحجز المزدوج) تتنفذ الأول في كل جلسة.</a:t>
            </a:r>
            <a:endParaRPr lang="en-US" sz="1400" dirty="0"/>
          </a:p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أي Defect بيتسجل فورًا مع لقطة شاشة قبل ما الـ reset يمسح الدليل.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60920" y="1691640"/>
            <a:ext cx="4297680" cy="4480560"/>
          </a:xfrm>
          <a:prstGeom prst="rect">
            <a:avLst/>
          </a:prstGeom>
          <a:solidFill>
            <a:srgbClr val="182055"/>
          </a:solidFill>
        </p:spPr>
      </p:sp>
      <p:sp>
        <p:nvSpPr>
          <p:cNvPr id="7" name="Text 5"/>
          <p:cNvSpPr/>
          <p:nvPr/>
        </p:nvSpPr>
        <p:spPr>
          <a:xfrm>
            <a:off x="7635240" y="1874520"/>
            <a:ext cx="3794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Smoke Test قبل أي جلسة تنفيذ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35240" y="2331720"/>
            <a:ext cx="3794760" cy="21031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-228600" algn="r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الموقع بيفتح.</a:t>
            </a:r>
            <a:endParaRPr lang="en-US" sz="1300" dirty="0"/>
          </a:p>
          <a:p>
            <a:pPr marL="228600" indent="-228600" algn="r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فيه غرفة واحدة على الأقل ظاهرة.</a:t>
            </a:r>
            <a:endParaRPr lang="en-US" sz="1300" dirty="0"/>
          </a:p>
          <a:p>
            <a:pPr marL="228600" indent="-228600" algn="r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تسجيل دخول الأدمن شغال.</a:t>
            </a:r>
            <a:endParaRPr lang="en-US" sz="1300" dirty="0"/>
          </a:p>
          <a:p>
            <a:pPr marL="228600" indent="-228600" algn="r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صفحة /admin بتفتح بعد اللوجين.</a:t>
            </a:r>
            <a:endParaRPr lang="en-US" sz="1300" dirty="0"/>
          </a:p>
          <a:p>
            <a:pPr marL="228600" indent="-228600" algn="r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تقويم الحجز قابل للتفاعل.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635240" y="4709160"/>
            <a:ext cx="3794760" cy="12801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15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لو فشل Smoke Test → التنفيذ بيتأجل ويتبلغ الـ Test Lead فورًا (Suspension Criteria — Test Plan §7.3).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F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kern="0" spc="100" dirty="0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٤ · المرحلة الثالثة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121A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تصميم حالات الاختبار — هيكل ثابت من 9 أعمدة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309360" cy="384048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5" name="Text 3"/>
          <p:cNvSpPr/>
          <p:nvPr/>
        </p:nvSpPr>
        <p:spPr>
          <a:xfrm>
            <a:off x="548640" y="1600200"/>
            <a:ext cx="63093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العمود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984248"/>
            <a:ext cx="6309360" cy="402336"/>
          </a:xfrm>
          <a:prstGeom prst="rect">
            <a:avLst/>
          </a:prstGeom>
          <a:solidFill>
            <a:srgbClr val="F4F6FB"/>
          </a:solidFill>
          <a:ln w="6350">
            <a:solidFill>
              <a:srgbClr val="E3E7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984248"/>
            <a:ext cx="603504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21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 Case ID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386584"/>
            <a:ext cx="63093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3E7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386584"/>
            <a:ext cx="603504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21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 Scenario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788920"/>
            <a:ext cx="6309360" cy="402336"/>
          </a:xfrm>
          <a:prstGeom prst="rect">
            <a:avLst/>
          </a:prstGeom>
          <a:solidFill>
            <a:srgbClr val="F4F6FB"/>
          </a:solidFill>
          <a:ln w="6350">
            <a:solidFill>
              <a:srgbClr val="E3E7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788920"/>
            <a:ext cx="603504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21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 Case Description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191256"/>
            <a:ext cx="63093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3E7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191256"/>
            <a:ext cx="603504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21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 Steps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593592"/>
            <a:ext cx="6309360" cy="402336"/>
          </a:xfrm>
          <a:prstGeom prst="rect">
            <a:avLst/>
          </a:prstGeom>
          <a:solidFill>
            <a:srgbClr val="F4F6FB"/>
          </a:solidFill>
          <a:ln w="6350">
            <a:solidFill>
              <a:srgbClr val="E3E7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593592"/>
            <a:ext cx="603504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21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 Data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995928"/>
            <a:ext cx="63093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3E7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995928"/>
            <a:ext cx="603504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21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Expected Result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398264"/>
            <a:ext cx="6309360" cy="402336"/>
          </a:xfrm>
          <a:prstGeom prst="rect">
            <a:avLst/>
          </a:prstGeom>
          <a:solidFill>
            <a:srgbClr val="F4F6FB"/>
          </a:solidFill>
          <a:ln w="6350">
            <a:solidFill>
              <a:srgbClr val="E3E7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398264"/>
            <a:ext cx="603504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21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Actual Result (V1)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800600"/>
            <a:ext cx="63093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3E7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800600"/>
            <a:ext cx="603504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21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Retest (V2)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5202936"/>
            <a:ext cx="6309360" cy="402336"/>
          </a:xfrm>
          <a:prstGeom prst="rect">
            <a:avLst/>
          </a:prstGeom>
          <a:solidFill>
            <a:srgbClr val="F4F6FB"/>
          </a:solidFill>
          <a:ln w="6350">
            <a:solidFill>
              <a:srgbClr val="E3E7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5202936"/>
            <a:ext cx="603504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21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Status</a:t>
            </a:r>
            <a:endParaRPr lang="en-US" sz="1200" dirty="0"/>
          </a:p>
        </p:txBody>
      </p:sp>
      <p:pic>
        <p:nvPicPr>
          <p:cNvPr id="24" name="Image 0" descr="/home/claude/rbp_pptx/img/summar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1600200"/>
            <a:ext cx="4572000" cy="1801368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7086600" y="342900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5A5F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Master Test Cases — ملخص 7 موديولات = 297 حالة اختبار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7086600" y="3931920"/>
            <a:ext cx="4572000" cy="2331720"/>
          </a:xfrm>
          <a:prstGeom prst="rect">
            <a:avLst/>
          </a:prstGeom>
          <a:solidFill>
            <a:srgbClr val="F4F6FB"/>
          </a:solidFill>
        </p:spPr>
      </p:sp>
      <p:sp>
        <p:nvSpPr>
          <p:cNvPr id="27" name="Text 24"/>
          <p:cNvSpPr/>
          <p:nvPr/>
        </p:nvSpPr>
        <p:spPr>
          <a:xfrm>
            <a:off x="7269480" y="4069080"/>
            <a:ext cx="4206240" cy="2057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مثال حقيقي — Root Cause Grouping:
</a:t>
            </a:r>
            <a:r>
              <a:rPr lang="en-US" sz="1200" dirty="0">
                <a:solidFill>
                  <a:srgbClr val="121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TC-RM-005 (اسم الغرفة مسافات فقط) و TC-RM-006 (اسم بمسافة بادئة) اتجمعوا لاحقًا في Defect واحد لأن السبب الجذري واحد: غياب الـ trim/validate على المسافات.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F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kern="0" spc="100" dirty="0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٤ · مثال تطبيقي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121A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Boundary Value Analysis — First Name (موديول Booking)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121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الـ SRS بيقول إن First Name لازم يكون بين 3 و18 حرف (T-BK02, T-BK03). بدل ما تُعمل حالة اختبار عامة واحدة، طلعت 4 حالات تغطي كل حدود القيمة: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724912" cy="3108960"/>
          </a:xfrm>
          <a:prstGeom prst="rect">
            <a:avLst/>
          </a:prstGeom>
          <a:solidFill>
            <a:srgbClr val="F4F6FB"/>
          </a:solidFill>
        </p:spPr>
      </p:sp>
      <p:sp>
        <p:nvSpPr>
          <p:cNvPr id="6" name="Shape 4"/>
          <p:cNvSpPr/>
          <p:nvPr/>
        </p:nvSpPr>
        <p:spPr>
          <a:xfrm>
            <a:off x="548640" y="2331720"/>
            <a:ext cx="2724912" cy="50292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7" name="Text 5"/>
          <p:cNvSpPr/>
          <p:nvPr/>
        </p:nvSpPr>
        <p:spPr>
          <a:xfrm>
            <a:off x="548640" y="2331720"/>
            <a:ext cx="2724912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TC-BK-014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3017520"/>
            <a:ext cx="2450592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21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 (حرفين)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4389120"/>
            <a:ext cx="2267712" cy="777240"/>
          </a:xfrm>
          <a:prstGeom prst="roundRect">
            <a:avLst>
              <a:gd name="adj" fmla="val 9412"/>
            </a:avLst>
          </a:prstGeom>
          <a:solidFill>
            <a:srgbClr val="C0392B"/>
          </a:solidFill>
        </p:spPr>
      </p:sp>
      <p:sp>
        <p:nvSpPr>
          <p:cNvPr id="10" name="Text 8"/>
          <p:cNvSpPr/>
          <p:nvPr/>
        </p:nvSpPr>
        <p:spPr>
          <a:xfrm>
            <a:off x="868680" y="4389120"/>
            <a:ext cx="2084832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رفض — تحت الحد الأدنى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10712" y="2331720"/>
            <a:ext cx="2724912" cy="3108960"/>
          </a:xfrm>
          <a:prstGeom prst="rect">
            <a:avLst/>
          </a:prstGeom>
          <a:solidFill>
            <a:srgbClr val="F4F6FB"/>
          </a:solidFill>
        </p:spPr>
      </p:sp>
      <p:sp>
        <p:nvSpPr>
          <p:cNvPr id="12" name="Shape 10"/>
          <p:cNvSpPr/>
          <p:nvPr/>
        </p:nvSpPr>
        <p:spPr>
          <a:xfrm>
            <a:off x="3410712" y="2331720"/>
            <a:ext cx="2724912" cy="50292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13" name="Text 11"/>
          <p:cNvSpPr/>
          <p:nvPr/>
        </p:nvSpPr>
        <p:spPr>
          <a:xfrm>
            <a:off x="3410712" y="2331720"/>
            <a:ext cx="2724912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TC-BK-015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47872" y="3017520"/>
            <a:ext cx="2450592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21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Ali (3 أحرف)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39312" y="4389120"/>
            <a:ext cx="2267712" cy="777240"/>
          </a:xfrm>
          <a:prstGeom prst="roundRect">
            <a:avLst>
              <a:gd name="adj" fmla="val 9412"/>
            </a:avLst>
          </a:prstGeom>
          <a:solidFill>
            <a:srgbClr val="2E7D32"/>
          </a:solidFill>
        </p:spPr>
      </p:sp>
      <p:sp>
        <p:nvSpPr>
          <p:cNvPr id="16" name="Text 14"/>
          <p:cNvSpPr/>
          <p:nvPr/>
        </p:nvSpPr>
        <p:spPr>
          <a:xfrm>
            <a:off x="3730752" y="4389120"/>
            <a:ext cx="2084832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قبول — الحد الأدنى بالظبط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72784" y="2331720"/>
            <a:ext cx="2724912" cy="3108960"/>
          </a:xfrm>
          <a:prstGeom prst="rect">
            <a:avLst/>
          </a:prstGeom>
          <a:solidFill>
            <a:srgbClr val="F4F6FB"/>
          </a:solidFill>
        </p:spPr>
      </p:sp>
      <p:sp>
        <p:nvSpPr>
          <p:cNvPr id="18" name="Shape 16"/>
          <p:cNvSpPr/>
          <p:nvPr/>
        </p:nvSpPr>
        <p:spPr>
          <a:xfrm>
            <a:off x="6272784" y="2331720"/>
            <a:ext cx="2724912" cy="50292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19" name="Text 17"/>
          <p:cNvSpPr/>
          <p:nvPr/>
        </p:nvSpPr>
        <p:spPr>
          <a:xfrm>
            <a:off x="6272784" y="2331720"/>
            <a:ext cx="2724912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TC-BK-016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9944" y="3017520"/>
            <a:ext cx="2450592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21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Abdelrahmanosamaa (18 حرف)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501384" y="4389120"/>
            <a:ext cx="2267712" cy="777240"/>
          </a:xfrm>
          <a:prstGeom prst="roundRect">
            <a:avLst>
              <a:gd name="adj" fmla="val 9412"/>
            </a:avLst>
          </a:prstGeom>
          <a:solidFill>
            <a:srgbClr val="2E7D32"/>
          </a:solidFill>
        </p:spPr>
      </p:sp>
      <p:sp>
        <p:nvSpPr>
          <p:cNvPr id="22" name="Text 20"/>
          <p:cNvSpPr/>
          <p:nvPr/>
        </p:nvSpPr>
        <p:spPr>
          <a:xfrm>
            <a:off x="6592824" y="4389120"/>
            <a:ext cx="2084832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قبول — الحد الأقصى بالظبط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134856" y="2331720"/>
            <a:ext cx="2724912" cy="3108960"/>
          </a:xfrm>
          <a:prstGeom prst="rect">
            <a:avLst/>
          </a:prstGeom>
          <a:solidFill>
            <a:srgbClr val="F4F6FB"/>
          </a:solidFill>
        </p:spPr>
      </p:sp>
      <p:sp>
        <p:nvSpPr>
          <p:cNvPr id="24" name="Shape 22"/>
          <p:cNvSpPr/>
          <p:nvPr/>
        </p:nvSpPr>
        <p:spPr>
          <a:xfrm>
            <a:off x="9134856" y="2331720"/>
            <a:ext cx="2724912" cy="50292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25" name="Text 23"/>
          <p:cNvSpPr/>
          <p:nvPr/>
        </p:nvSpPr>
        <p:spPr>
          <a:xfrm>
            <a:off x="9134856" y="2331720"/>
            <a:ext cx="2724912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TC-BK-017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272016" y="3017520"/>
            <a:ext cx="2450592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21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Abdelrahmanosamaab (19 حرف)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363456" y="4389120"/>
            <a:ext cx="2267712" cy="777240"/>
          </a:xfrm>
          <a:prstGeom prst="roundRect">
            <a:avLst>
              <a:gd name="adj" fmla="val 9412"/>
            </a:avLst>
          </a:prstGeom>
          <a:solidFill>
            <a:srgbClr val="C0392B"/>
          </a:solidFill>
        </p:spPr>
      </p:sp>
      <p:sp>
        <p:nvSpPr>
          <p:cNvPr id="28" name="Text 26"/>
          <p:cNvSpPr/>
          <p:nvPr/>
        </p:nvSpPr>
        <p:spPr>
          <a:xfrm>
            <a:off x="9454896" y="4389120"/>
            <a:ext cx="2084832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رفض — فوق الحد الأقصى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5A5F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نفس المبدأ اتطبق على: Last Name (3–30 حرف)، Phone (11–21 رقم)، Contact Name (3–30 حرف)، Subject (5–100 حرف)، Message (20–2000 حرف).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F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kern="0" spc="100" dirty="0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٤ · مثال تطبيقي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121A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Decision Table — تسجيل دخول الأدمن (Admin Login)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206240" cy="45720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5" name="Text 3"/>
          <p:cNvSpPr/>
          <p:nvPr/>
        </p:nvSpPr>
        <p:spPr>
          <a:xfrm>
            <a:off x="548640" y="1691640"/>
            <a:ext cx="4206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النتيجة المتوقعة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754880" y="1691640"/>
            <a:ext cx="1554480" cy="45720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7" name="Text 5"/>
          <p:cNvSpPr/>
          <p:nvPr/>
        </p:nvSpPr>
        <p:spPr>
          <a:xfrm>
            <a:off x="4754880" y="1691640"/>
            <a:ext cx="1554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TC ID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09360" y="1691640"/>
            <a:ext cx="1371600" cy="45720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9" name="Text 7"/>
          <p:cNvSpPr/>
          <p:nvPr/>
        </p:nvSpPr>
        <p:spPr>
          <a:xfrm>
            <a:off x="6309360" y="1691640"/>
            <a:ext cx="1371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Password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680960" y="1691640"/>
            <a:ext cx="1371600" cy="45720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11" name="Text 9"/>
          <p:cNvSpPr/>
          <p:nvPr/>
        </p:nvSpPr>
        <p:spPr>
          <a:xfrm>
            <a:off x="7680960" y="1691640"/>
            <a:ext cx="1371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Username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148840"/>
            <a:ext cx="42062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3E7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148840"/>
            <a:ext cx="402336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121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دخول ناجح للـ Dashboard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54880" y="2148840"/>
            <a:ext cx="15544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3E7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148840"/>
            <a:ext cx="155448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TC-AL-001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09360" y="2148840"/>
            <a:ext cx="13716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3E7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2148840"/>
            <a:ext cx="137160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7D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صح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680960" y="2148840"/>
            <a:ext cx="13716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3E7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0" y="2148840"/>
            <a:ext cx="137160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7D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صح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2679192"/>
            <a:ext cx="4206240" cy="530352"/>
          </a:xfrm>
          <a:prstGeom prst="rect">
            <a:avLst/>
          </a:prstGeom>
          <a:solidFill>
            <a:srgbClr val="F4F6FB"/>
          </a:solidFill>
          <a:ln w="6350">
            <a:solidFill>
              <a:srgbClr val="E3E7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2679192"/>
            <a:ext cx="402336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121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رسالة خطأ عامة (Invalid credentials)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754880" y="2679192"/>
            <a:ext cx="1554480" cy="530352"/>
          </a:xfrm>
          <a:prstGeom prst="rect">
            <a:avLst/>
          </a:prstGeom>
          <a:solidFill>
            <a:srgbClr val="F4F6FB"/>
          </a:solidFill>
          <a:ln w="6350">
            <a:solidFill>
              <a:srgbClr val="E3E7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2679192"/>
            <a:ext cx="155448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TC-AL-004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309360" y="2679192"/>
            <a:ext cx="1371600" cy="530352"/>
          </a:xfrm>
          <a:prstGeom prst="rect">
            <a:avLst/>
          </a:prstGeom>
          <a:solidFill>
            <a:srgbClr val="F4F6FB"/>
          </a:solidFill>
          <a:ln w="6350">
            <a:solidFill>
              <a:srgbClr val="E3E7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2679192"/>
            <a:ext cx="137160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صح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680960" y="2679192"/>
            <a:ext cx="1371600" cy="530352"/>
          </a:xfrm>
          <a:prstGeom prst="rect">
            <a:avLst/>
          </a:prstGeom>
          <a:solidFill>
            <a:srgbClr val="F4F6FB"/>
          </a:solidFill>
          <a:ln w="6350">
            <a:solidFill>
              <a:srgbClr val="E3E7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0" y="2679192"/>
            <a:ext cx="137160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غلط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3209544"/>
            <a:ext cx="42062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3E7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209544"/>
            <a:ext cx="402336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121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نفس رسالة الخطأ العامة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754880" y="3209544"/>
            <a:ext cx="15544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3E7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209544"/>
            <a:ext cx="155448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TC-AL-007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309360" y="3209544"/>
            <a:ext cx="13716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3E7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3209544"/>
            <a:ext cx="137160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غلط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680960" y="3209544"/>
            <a:ext cx="13716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3E7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80960" y="3209544"/>
            <a:ext cx="137160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صح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48640" y="3739896"/>
            <a:ext cx="4206240" cy="530352"/>
          </a:xfrm>
          <a:prstGeom prst="rect">
            <a:avLst/>
          </a:prstGeom>
          <a:solidFill>
            <a:srgbClr val="F4F6FB"/>
          </a:solidFill>
          <a:ln w="6350">
            <a:solidFill>
              <a:srgbClr val="E3E7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3739896"/>
            <a:ext cx="402336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121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نفس رسالة الخطأ العامة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754880" y="3739896"/>
            <a:ext cx="1554480" cy="530352"/>
          </a:xfrm>
          <a:prstGeom prst="rect">
            <a:avLst/>
          </a:prstGeom>
          <a:solidFill>
            <a:srgbClr val="F4F6FB"/>
          </a:solidFill>
          <a:ln w="6350">
            <a:solidFill>
              <a:srgbClr val="E3E7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3739896"/>
            <a:ext cx="155448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TC-AL-009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309360" y="3739896"/>
            <a:ext cx="1371600" cy="530352"/>
          </a:xfrm>
          <a:prstGeom prst="rect">
            <a:avLst/>
          </a:prstGeom>
          <a:solidFill>
            <a:srgbClr val="F4F6FB"/>
          </a:solidFill>
          <a:ln w="6350">
            <a:solidFill>
              <a:srgbClr val="E3E7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09360" y="3739896"/>
            <a:ext cx="137160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غلط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7680960" y="3739896"/>
            <a:ext cx="1371600" cy="530352"/>
          </a:xfrm>
          <a:prstGeom prst="rect">
            <a:avLst/>
          </a:prstGeom>
          <a:solidFill>
            <a:srgbClr val="F4F6FB"/>
          </a:solidFill>
          <a:ln w="6350">
            <a:solidFill>
              <a:srgbClr val="E3E7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680960" y="3739896"/>
            <a:ext cx="137160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غلط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548640" y="4544568"/>
            <a:ext cx="1106424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النقطة الجوهرية (F-AL01): </a:t>
            </a:r>
            <a:r>
              <a:rPr lang="en-US" sz="1300" dirty="0">
                <a:solidFill>
                  <a:srgbClr val="121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رسالة الخطأ لازم تكون متطابقة حرفيًا في الحالات الثلاث الغلط، عشان النظام ما يسربش معلومة عن أي حقل بالظبط غلط — اتفحص صراحة في TC-AL-011.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F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kern="0" spc="100" dirty="0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٤ · مثال تطبيقي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121A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State Transition Testing — تقويم الحجز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2468880"/>
            <a:ext cx="2331720" cy="1554480"/>
          </a:xfrm>
          <a:prstGeom prst="roundRect">
            <a:avLst>
              <a:gd name="adj" fmla="val 5882"/>
            </a:avLst>
          </a:prstGeom>
          <a:solidFill>
            <a:srgbClr val="1E2761"/>
          </a:solidFill>
        </p:spPr>
      </p:sp>
      <p:sp>
        <p:nvSpPr>
          <p:cNvPr id="5" name="Text 3"/>
          <p:cNvSpPr/>
          <p:nvPr/>
        </p:nvSpPr>
        <p:spPr>
          <a:xfrm>
            <a:off x="777240" y="2697480"/>
            <a:ext cx="2331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Available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3246120"/>
            <a:ext cx="214884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متاح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163824" y="3081528"/>
            <a:ext cx="576072" cy="329184"/>
          </a:xfrm>
          <a:prstGeom prst="rightArrow">
            <a:avLst/>
          </a:prstGeom>
          <a:solidFill>
            <a:srgbClr val="AAB4D6"/>
          </a:solidFill>
        </p:spPr>
      </p:sp>
      <p:sp>
        <p:nvSpPr>
          <p:cNvPr id="8" name="Shape 6"/>
          <p:cNvSpPr/>
          <p:nvPr/>
        </p:nvSpPr>
        <p:spPr>
          <a:xfrm>
            <a:off x="3794760" y="2468880"/>
            <a:ext cx="2331720" cy="1554480"/>
          </a:xfrm>
          <a:prstGeom prst="roundRect">
            <a:avLst>
              <a:gd name="adj" fmla="val 5882"/>
            </a:avLst>
          </a:prstGeom>
          <a:solidFill>
            <a:srgbClr val="2E4494"/>
          </a:solidFill>
        </p:spPr>
      </p:sp>
      <p:sp>
        <p:nvSpPr>
          <p:cNvPr id="9" name="Text 7"/>
          <p:cNvSpPr/>
          <p:nvPr/>
        </p:nvSpPr>
        <p:spPr>
          <a:xfrm>
            <a:off x="3794760" y="2697480"/>
            <a:ext cx="2331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Selected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886200" y="3246120"/>
            <a:ext cx="214884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متحدد بالسحب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81344" y="3081528"/>
            <a:ext cx="576072" cy="329184"/>
          </a:xfrm>
          <a:prstGeom prst="rightArrow">
            <a:avLst/>
          </a:prstGeom>
          <a:solidFill>
            <a:srgbClr val="AAB4D6"/>
          </a:solidFill>
        </p:spPr>
      </p:sp>
      <p:sp>
        <p:nvSpPr>
          <p:cNvPr id="12" name="Shape 10"/>
          <p:cNvSpPr/>
          <p:nvPr/>
        </p:nvSpPr>
        <p:spPr>
          <a:xfrm>
            <a:off x="6812280" y="2468880"/>
            <a:ext cx="2331720" cy="1554480"/>
          </a:xfrm>
          <a:prstGeom prst="roundRect">
            <a:avLst>
              <a:gd name="adj" fmla="val 5882"/>
            </a:avLst>
          </a:prstGeom>
          <a:solidFill>
            <a:srgbClr val="3D5AC4"/>
          </a:solidFill>
        </p:spPr>
      </p:sp>
      <p:sp>
        <p:nvSpPr>
          <p:cNvPr id="13" name="Text 11"/>
          <p:cNvSpPr/>
          <p:nvPr/>
        </p:nvSpPr>
        <p:spPr>
          <a:xfrm>
            <a:off x="6812280" y="2697480"/>
            <a:ext cx="2331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Confirmed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903720" y="3246120"/>
            <a:ext cx="214884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بعد إرسال الفورم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98864" y="3081528"/>
            <a:ext cx="576072" cy="329184"/>
          </a:xfrm>
          <a:prstGeom prst="rightArrow">
            <a:avLst/>
          </a:prstGeom>
          <a:solidFill>
            <a:srgbClr val="AAB4D6"/>
          </a:solidFill>
        </p:spPr>
      </p:sp>
      <p:sp>
        <p:nvSpPr>
          <p:cNvPr id="16" name="Shape 14"/>
          <p:cNvSpPr/>
          <p:nvPr/>
        </p:nvSpPr>
        <p:spPr>
          <a:xfrm>
            <a:off x="9829800" y="2468880"/>
            <a:ext cx="2331720" cy="1554480"/>
          </a:xfrm>
          <a:prstGeom prst="roundRect">
            <a:avLst>
              <a:gd name="adj" fmla="val 5882"/>
            </a:avLst>
          </a:prstGeom>
          <a:solidFill>
            <a:srgbClr val="D4A017"/>
          </a:solidFill>
        </p:spPr>
      </p:sp>
      <p:sp>
        <p:nvSpPr>
          <p:cNvPr id="17" name="Text 15"/>
          <p:cNvSpPr/>
          <p:nvPr/>
        </p:nvSpPr>
        <p:spPr>
          <a:xfrm>
            <a:off x="9829800" y="2697480"/>
            <a:ext cx="2331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Blocked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921240" y="3246120"/>
            <a:ext cx="214884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محجوب على أي ضيف تاني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4663440"/>
            <a:ext cx="10607040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500" dirty="0">
                <a:solidFill>
                  <a:srgbClr val="121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كل انتقال بين حالتين له Test Case مستقلة (TC-BK-001 لغاية TC-BK-011) بتتأكد إن الانتقال بيحصل صح، وإن الحالة القديمة مش بترجع — مثال: التاريخ المحجوز فعلاً ما يفضلش قابل للاختيار من ضيف تاني.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F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kern="0" spc="100" dirty="0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٤ · دليل التنفيذ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121A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عينات من ملفات حالات الاختبار — الموديولات الأساسية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2331720"/>
          </a:xfrm>
          <a:prstGeom prst="rect">
            <a:avLst/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</p:spPr>
      </p:sp>
      <p:pic>
        <p:nvPicPr>
          <p:cNvPr id="5" name="Image 0" descr="/home/claude/rbp_pptx/img/tc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673352"/>
            <a:ext cx="5294376" cy="1874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3566160"/>
            <a:ext cx="5257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TC-AL — Admin Login-Logout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172200" y="1600200"/>
            <a:ext cx="5440680" cy="2331720"/>
          </a:xfrm>
          <a:prstGeom prst="rect">
            <a:avLst/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</p:spPr>
      </p:sp>
      <p:pic>
        <p:nvPicPr>
          <p:cNvPr id="8" name="Image 1" descr="/home/claude/rbp_pptx/img/tc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673352"/>
            <a:ext cx="5294376" cy="18745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63640" y="3566160"/>
            <a:ext cx="5257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TC-RM — Room Management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548640" y="4251960"/>
            <a:ext cx="5440680" cy="2331720"/>
          </a:xfrm>
          <a:prstGeom prst="rect">
            <a:avLst/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</p:spPr>
      </p:sp>
      <p:pic>
        <p:nvPicPr>
          <p:cNvPr id="11" name="Image 2" descr="/home/claude/rbp_pptx/img/tcb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4325112"/>
            <a:ext cx="5294376" cy="18745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40080" y="6217920"/>
            <a:ext cx="5257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TC-BK — Booking-Reservation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6172200" y="4251960"/>
            <a:ext cx="5440680" cy="2331720"/>
          </a:xfrm>
          <a:prstGeom prst="rect">
            <a:avLst/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</p:spPr>
      </p:sp>
      <p:pic>
        <p:nvPicPr>
          <p:cNvPr id="14" name="Image 3" descr="/home/claude/rbp_pptx/img/tcc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4325112"/>
            <a:ext cx="5294376" cy="18745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263640" y="6217920"/>
            <a:ext cx="5257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TC-CM — Contact-Message</a:t>
            </a:r>
            <a:endParaRPr lang="en-US" sz="1150" dirty="0"/>
          </a:p>
        </p:txBody>
      </p:sp>
      <p:sp>
        <p:nvSpPr>
          <p:cNvPr id="16" name="Text 10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F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kern="0" spc="100" dirty="0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٤ · دليل التنفيذ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121A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عينات من ملفات حالات الاختبار — موديولات إضافية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4206240"/>
          </a:xfrm>
          <a:prstGeom prst="rect">
            <a:avLst/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</p:spPr>
      </p:sp>
      <p:pic>
        <p:nvPicPr>
          <p:cNvPr id="5" name="Image 0" descr="/home/claude/rbp_pptx/img/tcb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764792"/>
            <a:ext cx="3419856" cy="3703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5486400"/>
            <a:ext cx="3383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TC-BR — Branding Settings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297680" y="1691640"/>
            <a:ext cx="3566160" cy="4206240"/>
          </a:xfrm>
          <a:prstGeom prst="rect">
            <a:avLst/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</p:spPr>
      </p:sp>
      <p:pic>
        <p:nvPicPr>
          <p:cNvPr id="8" name="Image 1" descr="/home/claude/rbp_pptx/img/tcr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832" y="1764792"/>
            <a:ext cx="3419856" cy="3703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89120" y="5486400"/>
            <a:ext cx="3383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TC-RP — Reports Calendar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8046720" y="1691640"/>
            <a:ext cx="3566160" cy="4206240"/>
          </a:xfrm>
          <a:prstGeom prst="rect">
            <a:avLst/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</p:spPr>
      </p:sp>
      <p:pic>
        <p:nvPicPr>
          <p:cNvPr id="11" name="Image 2" descr="/home/claude/rbp_pptx/img/tcn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9872" y="1764792"/>
            <a:ext cx="3419856" cy="3703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138160" y="5486400"/>
            <a:ext cx="3383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TC-NF — NonFunctional / Inverse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F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kern="0" spc="100" dirty="0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٥ · المرحلة الرابعة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121A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تنفيذ الاختبارات وتوثيق النتائج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868680" cy="438912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5" name="Text 3"/>
          <p:cNvSpPr/>
          <p:nvPr/>
        </p:nvSpPr>
        <p:spPr>
          <a:xfrm>
            <a:off x="548640" y="1645920"/>
            <a:ext cx="8686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N/A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417320" y="1645920"/>
            <a:ext cx="868680" cy="438912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7" name="Text 5"/>
          <p:cNvSpPr/>
          <p:nvPr/>
        </p:nvSpPr>
        <p:spPr>
          <a:xfrm>
            <a:off x="1417320" y="1645920"/>
            <a:ext cx="8686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Blocked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286000" y="1645920"/>
            <a:ext cx="868680" cy="438912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9" name="Text 7"/>
          <p:cNvSpPr/>
          <p:nvPr/>
        </p:nvSpPr>
        <p:spPr>
          <a:xfrm>
            <a:off x="2286000" y="1645920"/>
            <a:ext cx="8686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Fail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154680" y="1645920"/>
            <a:ext cx="868680" cy="438912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11" name="Text 9"/>
          <p:cNvSpPr/>
          <p:nvPr/>
        </p:nvSpPr>
        <p:spPr>
          <a:xfrm>
            <a:off x="3154680" y="1645920"/>
            <a:ext cx="8686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023360" y="1645920"/>
            <a:ext cx="2286000" cy="438912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13" name="Text 11"/>
          <p:cNvSpPr/>
          <p:nvPr/>
        </p:nvSpPr>
        <p:spPr>
          <a:xfrm>
            <a:off x="4023360" y="1645920"/>
            <a:ext cx="22860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العدد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09360" y="1645920"/>
            <a:ext cx="2743200" cy="438912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15" name="Text 13"/>
          <p:cNvSpPr/>
          <p:nvPr/>
        </p:nvSpPr>
        <p:spPr>
          <a:xfrm>
            <a:off x="6309360" y="1645920"/>
            <a:ext cx="27432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الموديول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2084832"/>
            <a:ext cx="868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7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084832"/>
            <a:ext cx="868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A5F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417320" y="2084832"/>
            <a:ext cx="868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7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17320" y="2084832"/>
            <a:ext cx="868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6891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286000" y="2084832"/>
            <a:ext cx="868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7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0" y="2084832"/>
            <a:ext cx="868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154680" y="2084832"/>
            <a:ext cx="868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7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54680" y="2084832"/>
            <a:ext cx="868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7D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023360" y="2084832"/>
            <a:ext cx="2286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7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23360" y="2084832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21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309360" y="2084832"/>
            <a:ext cx="2743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7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2084832"/>
            <a:ext cx="2743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21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Admin Login &amp; Logout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2542032"/>
            <a:ext cx="868680" cy="457200"/>
          </a:xfrm>
          <a:prstGeom prst="rect">
            <a:avLst/>
          </a:prstGeom>
          <a:solidFill>
            <a:srgbClr val="F4F6FB"/>
          </a:solidFill>
          <a:ln w="6350">
            <a:solidFill>
              <a:srgbClr val="E3E7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2542032"/>
            <a:ext cx="868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A5F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1417320" y="2542032"/>
            <a:ext cx="868680" cy="457200"/>
          </a:xfrm>
          <a:prstGeom prst="rect">
            <a:avLst/>
          </a:prstGeom>
          <a:solidFill>
            <a:srgbClr val="F4F6FB"/>
          </a:solidFill>
          <a:ln w="6350">
            <a:solidFill>
              <a:srgbClr val="E3E7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417320" y="2542032"/>
            <a:ext cx="868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6891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2286000" y="2542032"/>
            <a:ext cx="868680" cy="457200"/>
          </a:xfrm>
          <a:prstGeom prst="rect">
            <a:avLst/>
          </a:prstGeom>
          <a:solidFill>
            <a:srgbClr val="F4F6FB"/>
          </a:solidFill>
          <a:ln w="6350">
            <a:solidFill>
              <a:srgbClr val="E3E7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86000" y="2542032"/>
            <a:ext cx="868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31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3154680" y="2542032"/>
            <a:ext cx="868680" cy="457200"/>
          </a:xfrm>
          <a:prstGeom prst="rect">
            <a:avLst/>
          </a:prstGeom>
          <a:solidFill>
            <a:srgbClr val="F4F6FB"/>
          </a:solidFill>
          <a:ln w="6350">
            <a:solidFill>
              <a:srgbClr val="E3E7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54680" y="2542032"/>
            <a:ext cx="868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7D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023360" y="2542032"/>
            <a:ext cx="2286000" cy="457200"/>
          </a:xfrm>
          <a:prstGeom prst="rect">
            <a:avLst/>
          </a:prstGeom>
          <a:solidFill>
            <a:srgbClr val="F4F6FB"/>
          </a:solidFill>
          <a:ln w="6350">
            <a:solidFill>
              <a:srgbClr val="E3E7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23360" y="2542032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21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65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309360" y="2542032"/>
            <a:ext cx="2743200" cy="457200"/>
          </a:xfrm>
          <a:prstGeom prst="rect">
            <a:avLst/>
          </a:prstGeom>
          <a:solidFill>
            <a:srgbClr val="F4F6FB"/>
          </a:solidFill>
          <a:ln w="6350">
            <a:solidFill>
              <a:srgbClr val="E3E7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09360" y="2542032"/>
            <a:ext cx="2743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21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Room Management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48640" y="2999232"/>
            <a:ext cx="868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7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2999232"/>
            <a:ext cx="868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A5F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1417320" y="2999232"/>
            <a:ext cx="868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7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417320" y="2999232"/>
            <a:ext cx="868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6891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2286000" y="2999232"/>
            <a:ext cx="868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7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286000" y="2999232"/>
            <a:ext cx="868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3154680" y="2999232"/>
            <a:ext cx="868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7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54680" y="2999232"/>
            <a:ext cx="868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7D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4023360" y="2999232"/>
            <a:ext cx="2286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7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023360" y="2999232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21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61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6309360" y="2999232"/>
            <a:ext cx="2743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7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09360" y="2999232"/>
            <a:ext cx="2743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21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Booking (Reservation)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548640" y="3456432"/>
            <a:ext cx="868680" cy="457200"/>
          </a:xfrm>
          <a:prstGeom prst="rect">
            <a:avLst/>
          </a:prstGeom>
          <a:solidFill>
            <a:srgbClr val="F4F6FB"/>
          </a:solidFill>
          <a:ln w="6350">
            <a:solidFill>
              <a:srgbClr val="E3E7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8640" y="3456432"/>
            <a:ext cx="868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A5F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1417320" y="3456432"/>
            <a:ext cx="868680" cy="457200"/>
          </a:xfrm>
          <a:prstGeom prst="rect">
            <a:avLst/>
          </a:prstGeom>
          <a:solidFill>
            <a:srgbClr val="F4F6FB"/>
          </a:solidFill>
          <a:ln w="6350">
            <a:solidFill>
              <a:srgbClr val="E3E7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417320" y="3456432"/>
            <a:ext cx="868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6891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2286000" y="3456432"/>
            <a:ext cx="868680" cy="457200"/>
          </a:xfrm>
          <a:prstGeom prst="rect">
            <a:avLst/>
          </a:prstGeom>
          <a:solidFill>
            <a:srgbClr val="F4F6FB"/>
          </a:solidFill>
          <a:ln w="6350">
            <a:solidFill>
              <a:srgbClr val="E3E7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286000" y="3456432"/>
            <a:ext cx="868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3154680" y="3456432"/>
            <a:ext cx="868680" cy="457200"/>
          </a:xfrm>
          <a:prstGeom prst="rect">
            <a:avLst/>
          </a:prstGeom>
          <a:solidFill>
            <a:srgbClr val="F4F6FB"/>
          </a:solidFill>
          <a:ln w="6350">
            <a:solidFill>
              <a:srgbClr val="E3E7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154680" y="3456432"/>
            <a:ext cx="868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7D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46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4023360" y="3456432"/>
            <a:ext cx="2286000" cy="457200"/>
          </a:xfrm>
          <a:prstGeom prst="rect">
            <a:avLst/>
          </a:prstGeom>
          <a:solidFill>
            <a:srgbClr val="F4F6FB"/>
          </a:solidFill>
          <a:ln w="6350">
            <a:solidFill>
              <a:srgbClr val="E3E7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023360" y="3456432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21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53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6309360" y="3456432"/>
            <a:ext cx="2743200" cy="457200"/>
          </a:xfrm>
          <a:prstGeom prst="rect">
            <a:avLst/>
          </a:prstGeom>
          <a:solidFill>
            <a:srgbClr val="F4F6FB"/>
          </a:solidFill>
          <a:ln w="6350">
            <a:solidFill>
              <a:srgbClr val="E3E7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309360" y="3456432"/>
            <a:ext cx="2743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21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Contact / Message</a:t>
            </a:r>
            <a:endParaRPr lang="en-US" sz="1150" dirty="0"/>
          </a:p>
        </p:txBody>
      </p:sp>
      <p:sp>
        <p:nvSpPr>
          <p:cNvPr id="64" name="Shape 62"/>
          <p:cNvSpPr/>
          <p:nvPr/>
        </p:nvSpPr>
        <p:spPr>
          <a:xfrm>
            <a:off x="548640" y="3913632"/>
            <a:ext cx="868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7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48640" y="3913632"/>
            <a:ext cx="868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A5F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1417320" y="3913632"/>
            <a:ext cx="868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7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417320" y="3913632"/>
            <a:ext cx="868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6891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50" dirty="0"/>
          </a:p>
        </p:txBody>
      </p:sp>
      <p:sp>
        <p:nvSpPr>
          <p:cNvPr id="68" name="Shape 66"/>
          <p:cNvSpPr/>
          <p:nvPr/>
        </p:nvSpPr>
        <p:spPr>
          <a:xfrm>
            <a:off x="2286000" y="3913632"/>
            <a:ext cx="868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7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286000" y="3913632"/>
            <a:ext cx="868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150" dirty="0"/>
          </a:p>
        </p:txBody>
      </p:sp>
      <p:sp>
        <p:nvSpPr>
          <p:cNvPr id="70" name="Shape 68"/>
          <p:cNvSpPr/>
          <p:nvPr/>
        </p:nvSpPr>
        <p:spPr>
          <a:xfrm>
            <a:off x="3154680" y="3913632"/>
            <a:ext cx="868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7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154680" y="3913632"/>
            <a:ext cx="868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7D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</a:t>
            </a:r>
            <a:endParaRPr lang="en-US" sz="1150" dirty="0"/>
          </a:p>
        </p:txBody>
      </p:sp>
      <p:sp>
        <p:nvSpPr>
          <p:cNvPr id="72" name="Shape 70"/>
          <p:cNvSpPr/>
          <p:nvPr/>
        </p:nvSpPr>
        <p:spPr>
          <a:xfrm>
            <a:off x="4023360" y="3913632"/>
            <a:ext cx="2286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7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023360" y="3913632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21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37</a:t>
            </a:r>
            <a:endParaRPr lang="en-US" sz="1150" dirty="0"/>
          </a:p>
        </p:txBody>
      </p:sp>
      <p:sp>
        <p:nvSpPr>
          <p:cNvPr id="74" name="Shape 72"/>
          <p:cNvSpPr/>
          <p:nvPr/>
        </p:nvSpPr>
        <p:spPr>
          <a:xfrm>
            <a:off x="6309360" y="3913632"/>
            <a:ext cx="2743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7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309360" y="3913632"/>
            <a:ext cx="2743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21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Branding Settings</a:t>
            </a:r>
            <a:endParaRPr lang="en-US" sz="1150" dirty="0"/>
          </a:p>
        </p:txBody>
      </p:sp>
      <p:sp>
        <p:nvSpPr>
          <p:cNvPr id="76" name="Shape 74"/>
          <p:cNvSpPr/>
          <p:nvPr/>
        </p:nvSpPr>
        <p:spPr>
          <a:xfrm>
            <a:off x="548640" y="4370832"/>
            <a:ext cx="868680" cy="457200"/>
          </a:xfrm>
          <a:prstGeom prst="rect">
            <a:avLst/>
          </a:prstGeom>
          <a:solidFill>
            <a:srgbClr val="F4F6FB"/>
          </a:solidFill>
          <a:ln w="6350">
            <a:solidFill>
              <a:srgbClr val="E3E7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48640" y="4370832"/>
            <a:ext cx="868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A5F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1150" dirty="0"/>
          </a:p>
        </p:txBody>
      </p:sp>
      <p:sp>
        <p:nvSpPr>
          <p:cNvPr id="78" name="Shape 76"/>
          <p:cNvSpPr/>
          <p:nvPr/>
        </p:nvSpPr>
        <p:spPr>
          <a:xfrm>
            <a:off x="1417320" y="4370832"/>
            <a:ext cx="868680" cy="457200"/>
          </a:xfrm>
          <a:prstGeom prst="rect">
            <a:avLst/>
          </a:prstGeom>
          <a:solidFill>
            <a:srgbClr val="F4F6FB"/>
          </a:solidFill>
          <a:ln w="6350">
            <a:solidFill>
              <a:srgbClr val="E3E7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417320" y="4370832"/>
            <a:ext cx="868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6891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150" dirty="0"/>
          </a:p>
        </p:txBody>
      </p:sp>
      <p:sp>
        <p:nvSpPr>
          <p:cNvPr id="80" name="Shape 78"/>
          <p:cNvSpPr/>
          <p:nvPr/>
        </p:nvSpPr>
        <p:spPr>
          <a:xfrm>
            <a:off x="2286000" y="4370832"/>
            <a:ext cx="868680" cy="457200"/>
          </a:xfrm>
          <a:prstGeom prst="rect">
            <a:avLst/>
          </a:prstGeom>
          <a:solidFill>
            <a:srgbClr val="F4F6FB"/>
          </a:solidFill>
          <a:ln w="6350">
            <a:solidFill>
              <a:srgbClr val="E3E7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286000" y="4370832"/>
            <a:ext cx="868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150" dirty="0"/>
          </a:p>
        </p:txBody>
      </p:sp>
      <p:sp>
        <p:nvSpPr>
          <p:cNvPr id="82" name="Shape 80"/>
          <p:cNvSpPr/>
          <p:nvPr/>
        </p:nvSpPr>
        <p:spPr>
          <a:xfrm>
            <a:off x="3154680" y="4370832"/>
            <a:ext cx="868680" cy="457200"/>
          </a:xfrm>
          <a:prstGeom prst="rect">
            <a:avLst/>
          </a:prstGeom>
          <a:solidFill>
            <a:srgbClr val="F4F6FB"/>
          </a:solidFill>
          <a:ln w="6350">
            <a:solidFill>
              <a:srgbClr val="E3E7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154680" y="4370832"/>
            <a:ext cx="868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7D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</a:t>
            </a:r>
            <a:endParaRPr lang="en-US" sz="1150" dirty="0"/>
          </a:p>
        </p:txBody>
      </p:sp>
      <p:sp>
        <p:nvSpPr>
          <p:cNvPr id="84" name="Shape 82"/>
          <p:cNvSpPr/>
          <p:nvPr/>
        </p:nvSpPr>
        <p:spPr>
          <a:xfrm>
            <a:off x="4023360" y="4370832"/>
            <a:ext cx="2286000" cy="457200"/>
          </a:xfrm>
          <a:prstGeom prst="rect">
            <a:avLst/>
          </a:prstGeom>
          <a:solidFill>
            <a:srgbClr val="F4F6FB"/>
          </a:solidFill>
          <a:ln w="6350">
            <a:solidFill>
              <a:srgbClr val="E3E7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023360" y="4370832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21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</a:t>
            </a:r>
            <a:endParaRPr lang="en-US" sz="1150" dirty="0"/>
          </a:p>
        </p:txBody>
      </p:sp>
      <p:sp>
        <p:nvSpPr>
          <p:cNvPr id="86" name="Shape 84"/>
          <p:cNvSpPr/>
          <p:nvPr/>
        </p:nvSpPr>
        <p:spPr>
          <a:xfrm>
            <a:off x="6309360" y="4370832"/>
            <a:ext cx="2743200" cy="457200"/>
          </a:xfrm>
          <a:prstGeom prst="rect">
            <a:avLst/>
          </a:prstGeom>
          <a:solidFill>
            <a:srgbClr val="F4F6FB"/>
          </a:solidFill>
          <a:ln w="6350">
            <a:solidFill>
              <a:srgbClr val="E3E7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309360" y="4370832"/>
            <a:ext cx="2743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21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Reports (Calendar)</a:t>
            </a:r>
            <a:endParaRPr lang="en-US" sz="1150" dirty="0"/>
          </a:p>
        </p:txBody>
      </p:sp>
      <p:sp>
        <p:nvSpPr>
          <p:cNvPr id="88" name="Shape 86"/>
          <p:cNvSpPr/>
          <p:nvPr/>
        </p:nvSpPr>
        <p:spPr>
          <a:xfrm>
            <a:off x="548640" y="4828032"/>
            <a:ext cx="868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7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48640" y="4828032"/>
            <a:ext cx="868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A5F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50" dirty="0"/>
          </a:p>
        </p:txBody>
      </p:sp>
      <p:sp>
        <p:nvSpPr>
          <p:cNvPr id="90" name="Shape 88"/>
          <p:cNvSpPr/>
          <p:nvPr/>
        </p:nvSpPr>
        <p:spPr>
          <a:xfrm>
            <a:off x="1417320" y="4828032"/>
            <a:ext cx="868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7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417320" y="4828032"/>
            <a:ext cx="868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6891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150" dirty="0"/>
          </a:p>
        </p:txBody>
      </p:sp>
      <p:sp>
        <p:nvSpPr>
          <p:cNvPr id="92" name="Shape 90"/>
          <p:cNvSpPr/>
          <p:nvPr/>
        </p:nvSpPr>
        <p:spPr>
          <a:xfrm>
            <a:off x="2286000" y="4828032"/>
            <a:ext cx="868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7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2286000" y="4828032"/>
            <a:ext cx="868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50" dirty="0"/>
          </a:p>
        </p:txBody>
      </p:sp>
      <p:sp>
        <p:nvSpPr>
          <p:cNvPr id="94" name="Shape 92"/>
          <p:cNvSpPr/>
          <p:nvPr/>
        </p:nvSpPr>
        <p:spPr>
          <a:xfrm>
            <a:off x="3154680" y="4828032"/>
            <a:ext cx="868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7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154680" y="4828032"/>
            <a:ext cx="868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7D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1150" dirty="0"/>
          </a:p>
        </p:txBody>
      </p:sp>
      <p:sp>
        <p:nvSpPr>
          <p:cNvPr id="96" name="Shape 94"/>
          <p:cNvSpPr/>
          <p:nvPr/>
        </p:nvSpPr>
        <p:spPr>
          <a:xfrm>
            <a:off x="4023360" y="4828032"/>
            <a:ext cx="2286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7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023360" y="4828032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21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</a:t>
            </a:r>
            <a:endParaRPr lang="en-US" sz="1150" dirty="0"/>
          </a:p>
        </p:txBody>
      </p:sp>
      <p:sp>
        <p:nvSpPr>
          <p:cNvPr id="98" name="Shape 96"/>
          <p:cNvSpPr/>
          <p:nvPr/>
        </p:nvSpPr>
        <p:spPr>
          <a:xfrm>
            <a:off x="6309360" y="4828032"/>
            <a:ext cx="2743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7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309360" y="4828032"/>
            <a:ext cx="2743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21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Non-Functional &amp; Inverse</a:t>
            </a:r>
            <a:endParaRPr lang="en-US" sz="1150" dirty="0"/>
          </a:p>
        </p:txBody>
      </p:sp>
      <p:sp>
        <p:nvSpPr>
          <p:cNvPr id="100" name="Shape 98"/>
          <p:cNvSpPr/>
          <p:nvPr/>
        </p:nvSpPr>
        <p:spPr>
          <a:xfrm>
            <a:off x="548640" y="5285232"/>
            <a:ext cx="8595360" cy="457200"/>
          </a:xfrm>
          <a:prstGeom prst="rect">
            <a:avLst/>
          </a:prstGeom>
          <a:solidFill>
            <a:srgbClr val="CADCFC"/>
          </a:solidFill>
        </p:spPr>
      </p:sp>
      <p:sp>
        <p:nvSpPr>
          <p:cNvPr id="101" name="Text 99"/>
          <p:cNvSpPr/>
          <p:nvPr/>
        </p:nvSpPr>
        <p:spPr>
          <a:xfrm>
            <a:off x="548640" y="5285232"/>
            <a:ext cx="868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1A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</a:t>
            </a:r>
            <a:endParaRPr lang="en-US" sz="1250" dirty="0"/>
          </a:p>
        </p:txBody>
      </p:sp>
      <p:sp>
        <p:nvSpPr>
          <p:cNvPr id="102" name="Text 100"/>
          <p:cNvSpPr/>
          <p:nvPr/>
        </p:nvSpPr>
        <p:spPr>
          <a:xfrm>
            <a:off x="1417320" y="5285232"/>
            <a:ext cx="868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1A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33</a:t>
            </a:r>
            <a:endParaRPr lang="en-US" sz="1250" dirty="0"/>
          </a:p>
        </p:txBody>
      </p:sp>
      <p:sp>
        <p:nvSpPr>
          <p:cNvPr id="103" name="Text 101"/>
          <p:cNvSpPr/>
          <p:nvPr/>
        </p:nvSpPr>
        <p:spPr>
          <a:xfrm>
            <a:off x="2286000" y="5285232"/>
            <a:ext cx="868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1A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49</a:t>
            </a:r>
            <a:endParaRPr lang="en-US" sz="1250" dirty="0"/>
          </a:p>
        </p:txBody>
      </p:sp>
      <p:sp>
        <p:nvSpPr>
          <p:cNvPr id="104" name="Text 102"/>
          <p:cNvSpPr/>
          <p:nvPr/>
        </p:nvSpPr>
        <p:spPr>
          <a:xfrm>
            <a:off x="3154680" y="5285232"/>
            <a:ext cx="868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1A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209</a:t>
            </a:r>
            <a:endParaRPr lang="en-US" sz="1250" dirty="0"/>
          </a:p>
        </p:txBody>
      </p:sp>
      <p:sp>
        <p:nvSpPr>
          <p:cNvPr id="105" name="Text 103"/>
          <p:cNvSpPr/>
          <p:nvPr/>
        </p:nvSpPr>
        <p:spPr>
          <a:xfrm>
            <a:off x="4023360" y="5285232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1A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297</a:t>
            </a:r>
            <a:endParaRPr lang="en-US" sz="1250" dirty="0"/>
          </a:p>
        </p:txBody>
      </p:sp>
      <p:sp>
        <p:nvSpPr>
          <p:cNvPr id="106" name="Text 104"/>
          <p:cNvSpPr/>
          <p:nvPr/>
        </p:nvSpPr>
        <p:spPr>
          <a:xfrm>
            <a:off x="6309360" y="5285232"/>
            <a:ext cx="2743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1A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الإجمالي</a:t>
            </a:r>
            <a:endParaRPr lang="en-US" sz="1250" dirty="0"/>
          </a:p>
        </p:txBody>
      </p:sp>
      <p:graphicFrame>
        <p:nvGraphicFramePr>
          <p:cNvPr id="107" name="Chart 0"/>
          <p:cNvGraphicFramePr/>
          <p:nvPr/>
        </p:nvGraphicFramePr>
        <p:xfrm>
          <a:off x="9281160" y="1645920"/>
          <a:ext cx="242316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08" name="Text 105"/>
          <p:cNvSpPr/>
          <p:nvPr/>
        </p:nvSpPr>
        <p:spPr>
          <a:xfrm>
            <a:off x="9281160" y="2423160"/>
            <a:ext cx="2423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70%</a:t>
            </a:r>
            <a:endParaRPr lang="en-US" sz="2200" dirty="0"/>
          </a:p>
        </p:txBody>
      </p:sp>
      <p:sp>
        <p:nvSpPr>
          <p:cNvPr id="109" name="Text 106"/>
          <p:cNvSpPr/>
          <p:nvPr/>
        </p:nvSpPr>
        <p:spPr>
          <a:xfrm>
            <a:off x="9281160" y="2880360"/>
            <a:ext cx="2423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5F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Pass Rate</a:t>
            </a:r>
            <a:endParaRPr lang="en-US" sz="1100" dirty="0"/>
          </a:p>
        </p:txBody>
      </p:sp>
      <p:sp>
        <p:nvSpPr>
          <p:cNvPr id="110" name="Shape 107"/>
          <p:cNvSpPr/>
          <p:nvPr/>
        </p:nvSpPr>
        <p:spPr>
          <a:xfrm>
            <a:off x="9326880" y="4343400"/>
            <a:ext cx="164592" cy="164592"/>
          </a:xfrm>
          <a:prstGeom prst="rect">
            <a:avLst/>
          </a:prstGeom>
          <a:solidFill>
            <a:srgbClr val="2E7D32"/>
          </a:solidFill>
        </p:spPr>
      </p:sp>
      <p:sp>
        <p:nvSpPr>
          <p:cNvPr id="111" name="Text 108"/>
          <p:cNvSpPr/>
          <p:nvPr/>
        </p:nvSpPr>
        <p:spPr>
          <a:xfrm>
            <a:off x="9555480" y="4288536"/>
            <a:ext cx="2103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21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Pass 209</a:t>
            </a:r>
            <a:endParaRPr lang="en-US" sz="1100" dirty="0"/>
          </a:p>
        </p:txBody>
      </p:sp>
      <p:sp>
        <p:nvSpPr>
          <p:cNvPr id="112" name="Shape 109"/>
          <p:cNvSpPr/>
          <p:nvPr/>
        </p:nvSpPr>
        <p:spPr>
          <a:xfrm>
            <a:off x="9326880" y="4636008"/>
            <a:ext cx="164592" cy="164592"/>
          </a:xfrm>
          <a:prstGeom prst="rect">
            <a:avLst/>
          </a:prstGeom>
          <a:solidFill>
            <a:srgbClr val="C0392B"/>
          </a:solidFill>
        </p:spPr>
      </p:sp>
      <p:sp>
        <p:nvSpPr>
          <p:cNvPr id="113" name="Text 110"/>
          <p:cNvSpPr/>
          <p:nvPr/>
        </p:nvSpPr>
        <p:spPr>
          <a:xfrm>
            <a:off x="9555480" y="4581144"/>
            <a:ext cx="2103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21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Fail 49</a:t>
            </a:r>
            <a:endParaRPr lang="en-US" sz="1100" dirty="0"/>
          </a:p>
        </p:txBody>
      </p:sp>
      <p:sp>
        <p:nvSpPr>
          <p:cNvPr id="114" name="Shape 111"/>
          <p:cNvSpPr/>
          <p:nvPr/>
        </p:nvSpPr>
        <p:spPr>
          <a:xfrm>
            <a:off x="9326880" y="4928616"/>
            <a:ext cx="164592" cy="164592"/>
          </a:xfrm>
          <a:prstGeom prst="rect">
            <a:avLst/>
          </a:prstGeom>
          <a:solidFill>
            <a:srgbClr val="D68910"/>
          </a:solidFill>
        </p:spPr>
      </p:sp>
      <p:sp>
        <p:nvSpPr>
          <p:cNvPr id="115" name="Text 112"/>
          <p:cNvSpPr/>
          <p:nvPr/>
        </p:nvSpPr>
        <p:spPr>
          <a:xfrm>
            <a:off x="9555480" y="4873752"/>
            <a:ext cx="2103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21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Blocked 33</a:t>
            </a:r>
            <a:endParaRPr lang="en-US" sz="1100" dirty="0"/>
          </a:p>
        </p:txBody>
      </p:sp>
      <p:sp>
        <p:nvSpPr>
          <p:cNvPr id="116" name="Shape 113"/>
          <p:cNvSpPr/>
          <p:nvPr/>
        </p:nvSpPr>
        <p:spPr>
          <a:xfrm>
            <a:off x="9326880" y="5221224"/>
            <a:ext cx="164592" cy="164592"/>
          </a:xfrm>
          <a:prstGeom prst="rect">
            <a:avLst/>
          </a:prstGeom>
          <a:solidFill>
            <a:srgbClr val="7F8C8D"/>
          </a:solidFill>
        </p:spPr>
      </p:sp>
      <p:sp>
        <p:nvSpPr>
          <p:cNvPr id="117" name="Text 114"/>
          <p:cNvSpPr/>
          <p:nvPr/>
        </p:nvSpPr>
        <p:spPr>
          <a:xfrm>
            <a:off x="9555480" y="5166360"/>
            <a:ext cx="2103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21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N/A 6</a:t>
            </a:r>
            <a:endParaRPr lang="en-US" sz="1100" dirty="0"/>
          </a:p>
        </p:txBody>
      </p:sp>
      <p:sp>
        <p:nvSpPr>
          <p:cNvPr id="118" name="Text 115"/>
          <p:cNvSpPr/>
          <p:nvPr/>
        </p:nvSpPr>
        <p:spPr>
          <a:xfrm>
            <a:off x="548640" y="5879592"/>
            <a:ext cx="859536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5A5F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أعلى نسبة فشل في Room Management (31 من 65) — بسبب أكبر عدد قواعد تحقق (T-RM01→T-RM12) واكتشاف غياب خاصية Edit بالكامل من الواجهة.</a:t>
            </a:r>
            <a:endParaRPr lang="en-US" sz="1200" dirty="0"/>
          </a:p>
        </p:txBody>
      </p:sp>
      <p:sp>
        <p:nvSpPr>
          <p:cNvPr id="119" name="Text 11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F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kern="0" spc="100" dirty="0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٦ · المرحلة الخامسة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121A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تحويل الفشل إلى تقرير أخطاء — Bug Report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1737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350" b="1" dirty="0">
                <a:solidFill>
                  <a:srgbClr val="121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القاعدة: لو أكتر من Test Case بترجع لنفس السبب الجذري (Root Cause)، بتتجمع في Defect واحد.</a:t>
            </a:r>
            <a:endParaRPr lang="en-US" sz="1350" dirty="0"/>
          </a:p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21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النتيجة: 19 Defect فقط بتغطي الـ 49 حالة الفاشلة (Fail) بالكامل.</a:t>
            </a:r>
            <a:endParaRPr lang="en-US" sz="1350" dirty="0"/>
          </a:p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21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كل Defect بيتسجل بـ: رقم، Status، Raised By، Version، TC IDs المرتبطة، خطوات إعادة الإنتاج، النتيجة المتوقعة/الفعلية، Priority، Severity، عنوان.</a:t>
            </a:r>
            <a:endParaRPr lang="en-US" sz="1350" dirty="0"/>
          </a:p>
        </p:txBody>
      </p:sp>
      <p:pic>
        <p:nvPicPr>
          <p:cNvPr id="5" name="Image 0" descr="/home/claude/rbp_pptx/img/defects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46120"/>
            <a:ext cx="11064240" cy="3337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F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kern="0" spc="100" dirty="0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٦ · المرحلة الخامسة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121A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Priority مقابل Severity — والأخطاء الأهم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2148840"/>
          </a:xfrm>
          <a:prstGeom prst="rect">
            <a:avLst/>
          </a:prstGeom>
          <a:solidFill>
            <a:srgbClr val="F4F6FB"/>
          </a:solidFill>
        </p:spPr>
      </p:sp>
      <p:sp>
        <p:nvSpPr>
          <p:cNvPr id="5" name="Text 3"/>
          <p:cNvSpPr/>
          <p:nvPr/>
        </p:nvSpPr>
        <p:spPr>
          <a:xfrm>
            <a:off x="731520" y="1691640"/>
            <a:ext cx="5029200" cy="1874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Severity
</a:t>
            </a:r>
            <a:r>
              <a:rPr lang="en-US" sz="1250" dirty="0">
                <a:solidFill>
                  <a:srgbClr val="121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حجم تأثير الخلل على النظام تقنيًا/وظيفيًا، بغض النظر عن وقت الإصلاح.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72200" y="1554480"/>
            <a:ext cx="5440680" cy="2148840"/>
          </a:xfrm>
          <a:prstGeom prst="rect">
            <a:avLst/>
          </a:prstGeom>
          <a:solidFill>
            <a:srgbClr val="F4F6FB"/>
          </a:solidFill>
        </p:spPr>
      </p:sp>
      <p:sp>
        <p:nvSpPr>
          <p:cNvPr id="7" name="Text 5"/>
          <p:cNvSpPr/>
          <p:nvPr/>
        </p:nvSpPr>
        <p:spPr>
          <a:xfrm>
            <a:off x="6355080" y="1691640"/>
            <a:ext cx="5074920" cy="1874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Priority
</a:t>
            </a:r>
            <a:r>
              <a:rPr lang="en-US" sz="1250" dirty="0">
                <a:solidFill>
                  <a:srgbClr val="121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إلحاح الإصلاح من منظور العمل (business) — هل بيتقابل كتير؟ هل ليه بديل مؤقت؟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3840480"/>
            <a:ext cx="110642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مثال حقيقي: </a:t>
            </a:r>
            <a:r>
              <a:rPr lang="en-US" sz="1250" dirty="0">
                <a:solidFill>
                  <a:srgbClr val="121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Defect #11 (طلب غرفة محذوفة يرجع Server Error 500) — Severity = High (يفضح تفاصيل تقنية حساسة)، لكن Priority = Medium (نادر الحدوث، محتاج تزامن بين جلستين).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4526280"/>
            <a:ext cx="7315200" cy="384048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10" name="Text 8"/>
          <p:cNvSpPr/>
          <p:nvPr/>
        </p:nvSpPr>
        <p:spPr>
          <a:xfrm>
            <a:off x="548640" y="4526280"/>
            <a:ext cx="73152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وصف الخلل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863840" y="4526280"/>
            <a:ext cx="1371600" cy="384048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12" name="Text 10"/>
          <p:cNvSpPr/>
          <p:nvPr/>
        </p:nvSpPr>
        <p:spPr>
          <a:xfrm>
            <a:off x="7863840" y="4526280"/>
            <a:ext cx="13716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Severity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235440" y="4526280"/>
            <a:ext cx="1371600" cy="384048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14" name="Text 12"/>
          <p:cNvSpPr/>
          <p:nvPr/>
        </p:nvSpPr>
        <p:spPr>
          <a:xfrm>
            <a:off x="9235440" y="4526280"/>
            <a:ext cx="13716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Priority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607040" y="4526280"/>
            <a:ext cx="1033272" cy="384048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16" name="Text 14"/>
          <p:cNvSpPr/>
          <p:nvPr/>
        </p:nvSpPr>
        <p:spPr>
          <a:xfrm>
            <a:off x="10607040" y="4526280"/>
            <a:ext cx="1033272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Defect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910328"/>
            <a:ext cx="73152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3E7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4910328"/>
            <a:ext cx="7168896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121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اسم الغرفة المكرر بيتقبل بدل ما يترفض — بيكسر F-RM02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863840" y="4910328"/>
            <a:ext cx="13716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3E7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63840" y="4910328"/>
            <a:ext cx="1371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235440" y="4910328"/>
            <a:ext cx="13716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3E7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35440" y="4910328"/>
            <a:ext cx="1371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0607040" y="4910328"/>
            <a:ext cx="103327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3E7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607040" y="4910328"/>
            <a:ext cx="1033272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#2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5202936"/>
            <a:ext cx="7315200" cy="292608"/>
          </a:xfrm>
          <a:prstGeom prst="rect">
            <a:avLst/>
          </a:prstGeom>
          <a:solidFill>
            <a:srgbClr val="F4F6FB"/>
          </a:solidFill>
          <a:ln w="6350">
            <a:solidFill>
              <a:srgbClr val="E3E7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" y="5202936"/>
            <a:ext cx="7168896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121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خاصية Edit Room غير موجودة خالص في الواجهة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863840" y="5202936"/>
            <a:ext cx="1371600" cy="292608"/>
          </a:xfrm>
          <a:prstGeom prst="rect">
            <a:avLst/>
          </a:prstGeom>
          <a:solidFill>
            <a:srgbClr val="F4F6FB"/>
          </a:solidFill>
          <a:ln w="6350">
            <a:solidFill>
              <a:srgbClr val="E3E7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63840" y="5202936"/>
            <a:ext cx="1371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235440" y="5202936"/>
            <a:ext cx="1371600" cy="292608"/>
          </a:xfrm>
          <a:prstGeom prst="rect">
            <a:avLst/>
          </a:prstGeom>
          <a:solidFill>
            <a:srgbClr val="F4F6FB"/>
          </a:solidFill>
          <a:ln w="6350">
            <a:solidFill>
              <a:srgbClr val="E3E7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35440" y="5202936"/>
            <a:ext cx="1371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0607040" y="5202936"/>
            <a:ext cx="1033272" cy="292608"/>
          </a:xfrm>
          <a:prstGeom prst="rect">
            <a:avLst/>
          </a:prstGeom>
          <a:solidFill>
            <a:srgbClr val="F4F6FB"/>
          </a:solidFill>
          <a:ln w="6350">
            <a:solidFill>
              <a:srgbClr val="E3E7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607040" y="5202936"/>
            <a:ext cx="1033272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#8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5495544"/>
            <a:ext cx="73152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3E7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" y="5495544"/>
            <a:ext cx="7168896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121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إمكانية حذف غرفة عليها حجز نشط — بيكسر F-RM03/IR-05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863840" y="5495544"/>
            <a:ext cx="13716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3E7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63840" y="5495544"/>
            <a:ext cx="1371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9235440" y="5495544"/>
            <a:ext cx="13716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3E7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235440" y="5495544"/>
            <a:ext cx="1371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10607040" y="5495544"/>
            <a:ext cx="103327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3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607040" y="5495544"/>
            <a:ext cx="1033272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#9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48640" y="5788152"/>
            <a:ext cx="7315200" cy="292608"/>
          </a:xfrm>
          <a:prstGeom prst="rect">
            <a:avLst/>
          </a:prstGeom>
          <a:solidFill>
            <a:srgbClr val="F4F6FB"/>
          </a:solidFill>
          <a:ln w="6350">
            <a:solidFill>
              <a:srgbClr val="E3E7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1792" y="5788152"/>
            <a:ext cx="7168896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121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تقرير الحجوزات مش بيعرض صف منفصل لكل غرفة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863840" y="5788152"/>
            <a:ext cx="1371600" cy="292608"/>
          </a:xfrm>
          <a:prstGeom prst="rect">
            <a:avLst/>
          </a:prstGeom>
          <a:solidFill>
            <a:srgbClr val="F4F6FB"/>
          </a:solidFill>
          <a:ln w="6350">
            <a:solidFill>
              <a:srgbClr val="E3E7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863840" y="5788152"/>
            <a:ext cx="1371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235440" y="5788152"/>
            <a:ext cx="1371600" cy="292608"/>
          </a:xfrm>
          <a:prstGeom prst="rect">
            <a:avLst/>
          </a:prstGeom>
          <a:solidFill>
            <a:srgbClr val="F4F6FB"/>
          </a:solidFill>
          <a:ln w="6350">
            <a:solidFill>
              <a:srgbClr val="E3E7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235440" y="5788152"/>
            <a:ext cx="1371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10607040" y="5788152"/>
            <a:ext cx="1033272" cy="292608"/>
          </a:xfrm>
          <a:prstGeom prst="rect">
            <a:avLst/>
          </a:prstGeom>
          <a:solidFill>
            <a:srgbClr val="F4F6FB"/>
          </a:solidFill>
          <a:ln w="6350">
            <a:solidFill>
              <a:srgbClr val="E3E7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607040" y="5788152"/>
            <a:ext cx="1033272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#19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48640" y="6080760"/>
            <a:ext cx="73152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3E7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1792" y="6080760"/>
            <a:ext cx="7168896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121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سعر الغرفة الكبير (99999) بيترفض رغم إنه يجب أن يُقبل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7863840" y="6080760"/>
            <a:ext cx="13716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3E7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863840" y="6080760"/>
            <a:ext cx="1371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6891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Medium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9235440" y="6080760"/>
            <a:ext cx="13716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3E7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235440" y="6080760"/>
            <a:ext cx="1371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6891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Medium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10607040" y="6080760"/>
            <a:ext cx="103327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3E7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607040" y="6080760"/>
            <a:ext cx="1033272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#4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548640" y="6373368"/>
            <a:ext cx="7315200" cy="292608"/>
          </a:xfrm>
          <a:prstGeom prst="rect">
            <a:avLst/>
          </a:prstGeom>
          <a:solidFill>
            <a:srgbClr val="F4F6FB"/>
          </a:solidFill>
          <a:ln w="6350">
            <a:solidFill>
              <a:srgbClr val="E3E7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21792" y="6373368"/>
            <a:ext cx="7168896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121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إيميل الحجز بيتقبل من غير Top-Level Domain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7863840" y="6373368"/>
            <a:ext cx="1371600" cy="292608"/>
          </a:xfrm>
          <a:prstGeom prst="rect">
            <a:avLst/>
          </a:prstGeom>
          <a:solidFill>
            <a:srgbClr val="F4F6FB"/>
          </a:solidFill>
          <a:ln w="6350">
            <a:solidFill>
              <a:srgbClr val="E3E7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863840" y="6373368"/>
            <a:ext cx="1371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6891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Medium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9235440" y="6373368"/>
            <a:ext cx="1371600" cy="292608"/>
          </a:xfrm>
          <a:prstGeom prst="rect">
            <a:avLst/>
          </a:prstGeom>
          <a:solidFill>
            <a:srgbClr val="F4F6FB"/>
          </a:solidFill>
          <a:ln w="6350">
            <a:solidFill>
              <a:srgbClr val="E3E7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235440" y="6373368"/>
            <a:ext cx="1371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10607040" y="6373368"/>
            <a:ext cx="1033272" cy="292608"/>
          </a:xfrm>
          <a:prstGeom prst="rect">
            <a:avLst/>
          </a:prstGeom>
          <a:solidFill>
            <a:srgbClr val="F4F6FB"/>
          </a:solidFill>
          <a:ln w="6350">
            <a:solidFill>
              <a:srgbClr val="E3E7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0607040" y="6373368"/>
            <a:ext cx="1033272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#12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F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kern="0" spc="100" dirty="0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٦ · المرحلة الخامسة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121A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فجوات المتطلبات — Requirement Gaps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309360" cy="4206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121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أثناء تصميم حالات الاختبار، لوحظ إن 7 معرّفات متطلبات مذكورة كـ range عام في الـ SRS لكن مش متفصلة في Test Plan §3.</a:t>
            </a:r>
            <a:endParaRPr lang="en-US" sz="1400" dirty="0"/>
          </a:p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21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F-BK05, F-BK08, F-BK09, F-BK10, F-CM03, IR-03, IR-10.</a:t>
            </a:r>
            <a:endParaRPr lang="en-US" sz="1400" dirty="0"/>
          </a:p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21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القرار: ما اتعملتش test cases وهمية عليهم — بدل كده اتسجلوا في شيت "Requirement Gaps" منفصل.</a:t>
            </a:r>
            <a:endParaRPr lang="en-US" sz="1400" dirty="0"/>
          </a:p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21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اتصعّدوا للـ Test Lead ومشرف المشروع طبقًا لـ Change Management في SRS §11.</a:t>
            </a:r>
            <a:endParaRPr lang="en-US" sz="1400" dirty="0"/>
          </a:p>
        </p:txBody>
      </p:sp>
      <p:pic>
        <p:nvPicPr>
          <p:cNvPr id="5" name="Image 0" descr="/home/claude/rbp_pptx/img/reqgap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1600200"/>
            <a:ext cx="4572000" cy="3383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86600" y="5029200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5A5F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شيت Requirement Gaps — 7 معرّفات محتاجة SRS clarification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F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263882"/>
          </a:solidFill>
        </p:spPr>
      </p:sp>
      <p:sp>
        <p:nvSpPr>
          <p:cNvPr id="3" name="Text 1"/>
          <p:cNvSpPr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الخلاصة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084832" cy="2103120"/>
          </a:xfrm>
          <a:prstGeom prst="roundRect">
            <a:avLst>
              <a:gd name="adj" fmla="val 4386"/>
            </a:avLst>
          </a:prstGeom>
          <a:solidFill>
            <a:srgbClr val="182055"/>
          </a:solidFill>
        </p:spPr>
      </p:sp>
      <p:sp>
        <p:nvSpPr>
          <p:cNvPr id="5" name="Text 3"/>
          <p:cNvSpPr/>
          <p:nvPr/>
        </p:nvSpPr>
        <p:spPr>
          <a:xfrm>
            <a:off x="685800" y="1810512"/>
            <a:ext cx="548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D4A01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" y="2377440"/>
            <a:ext cx="1810512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قراءة وتصنيف المتطلبات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85800" y="3246120"/>
            <a:ext cx="181051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SRS → T/F/NFR/IR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651760" y="2615184"/>
            <a:ext cx="128016" cy="256032"/>
          </a:xfrm>
          <a:prstGeom prst="rightArrow">
            <a:avLst/>
          </a:prstGeom>
          <a:solidFill>
            <a:srgbClr val="D4A017"/>
          </a:solidFill>
        </p:spPr>
      </p:sp>
      <p:sp>
        <p:nvSpPr>
          <p:cNvPr id="9" name="Shape 7"/>
          <p:cNvSpPr/>
          <p:nvPr/>
        </p:nvSpPr>
        <p:spPr>
          <a:xfrm>
            <a:off x="2798064" y="1691640"/>
            <a:ext cx="2084832" cy="2103120"/>
          </a:xfrm>
          <a:prstGeom prst="roundRect">
            <a:avLst>
              <a:gd name="adj" fmla="val 4386"/>
            </a:avLst>
          </a:prstGeom>
          <a:solidFill>
            <a:srgbClr val="182055"/>
          </a:solidFill>
        </p:spPr>
      </p:sp>
      <p:sp>
        <p:nvSpPr>
          <p:cNvPr id="10" name="Text 8"/>
          <p:cNvSpPr/>
          <p:nvPr/>
        </p:nvSpPr>
        <p:spPr>
          <a:xfrm>
            <a:off x="2935224" y="1810512"/>
            <a:ext cx="548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D4A01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935224" y="2377440"/>
            <a:ext cx="1810512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بناء استراتيجية الاختبار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935224" y="3246120"/>
            <a:ext cx="181051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 Plan v1.1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901184" y="2615184"/>
            <a:ext cx="128016" cy="256032"/>
          </a:xfrm>
          <a:prstGeom prst="rightArrow">
            <a:avLst/>
          </a:prstGeom>
          <a:solidFill>
            <a:srgbClr val="D4A017"/>
          </a:solidFill>
        </p:spPr>
      </p:sp>
      <p:sp>
        <p:nvSpPr>
          <p:cNvPr id="14" name="Shape 12"/>
          <p:cNvSpPr/>
          <p:nvPr/>
        </p:nvSpPr>
        <p:spPr>
          <a:xfrm>
            <a:off x="5047488" y="1691640"/>
            <a:ext cx="2084832" cy="2103120"/>
          </a:xfrm>
          <a:prstGeom prst="roundRect">
            <a:avLst>
              <a:gd name="adj" fmla="val 4386"/>
            </a:avLst>
          </a:prstGeom>
          <a:solidFill>
            <a:srgbClr val="182055"/>
          </a:solidFill>
        </p:spPr>
      </p:sp>
      <p:sp>
        <p:nvSpPr>
          <p:cNvPr id="15" name="Text 13"/>
          <p:cNvSpPr/>
          <p:nvPr/>
        </p:nvSpPr>
        <p:spPr>
          <a:xfrm>
            <a:off x="5184648" y="1810512"/>
            <a:ext cx="548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D4A01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184648" y="2377440"/>
            <a:ext cx="1810512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تصميم حالات الاختبار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184648" y="3246120"/>
            <a:ext cx="181051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297 Test Case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150608" y="2615184"/>
            <a:ext cx="128016" cy="256032"/>
          </a:xfrm>
          <a:prstGeom prst="rightArrow">
            <a:avLst/>
          </a:prstGeom>
          <a:solidFill>
            <a:srgbClr val="D4A017"/>
          </a:solidFill>
        </p:spPr>
      </p:sp>
      <p:sp>
        <p:nvSpPr>
          <p:cNvPr id="19" name="Shape 17"/>
          <p:cNvSpPr/>
          <p:nvPr/>
        </p:nvSpPr>
        <p:spPr>
          <a:xfrm>
            <a:off x="7296912" y="1691640"/>
            <a:ext cx="2084832" cy="2103120"/>
          </a:xfrm>
          <a:prstGeom prst="roundRect">
            <a:avLst>
              <a:gd name="adj" fmla="val 4386"/>
            </a:avLst>
          </a:prstGeom>
          <a:solidFill>
            <a:srgbClr val="182055"/>
          </a:solidFill>
        </p:spPr>
      </p:sp>
      <p:sp>
        <p:nvSpPr>
          <p:cNvPr id="20" name="Text 18"/>
          <p:cNvSpPr/>
          <p:nvPr/>
        </p:nvSpPr>
        <p:spPr>
          <a:xfrm>
            <a:off x="7434072" y="1810512"/>
            <a:ext cx="548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D4A01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434072" y="2377440"/>
            <a:ext cx="1810512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تنفيذ فعلي وتوثيق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434072" y="3246120"/>
            <a:ext cx="181051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Pass Rate 70%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400032" y="2615184"/>
            <a:ext cx="128016" cy="256032"/>
          </a:xfrm>
          <a:prstGeom prst="rightArrow">
            <a:avLst/>
          </a:prstGeom>
          <a:solidFill>
            <a:srgbClr val="D4A017"/>
          </a:solidFill>
        </p:spPr>
      </p:sp>
      <p:sp>
        <p:nvSpPr>
          <p:cNvPr id="24" name="Shape 22"/>
          <p:cNvSpPr/>
          <p:nvPr/>
        </p:nvSpPr>
        <p:spPr>
          <a:xfrm>
            <a:off x="9546336" y="1691640"/>
            <a:ext cx="2084832" cy="2103120"/>
          </a:xfrm>
          <a:prstGeom prst="roundRect">
            <a:avLst>
              <a:gd name="adj" fmla="val 4386"/>
            </a:avLst>
          </a:prstGeom>
          <a:solidFill>
            <a:srgbClr val="182055"/>
          </a:solidFill>
        </p:spPr>
      </p:sp>
      <p:sp>
        <p:nvSpPr>
          <p:cNvPr id="25" name="Text 23"/>
          <p:cNvSpPr/>
          <p:nvPr/>
        </p:nvSpPr>
        <p:spPr>
          <a:xfrm>
            <a:off x="9683496" y="1810512"/>
            <a:ext cx="548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D4A01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683496" y="2377440"/>
            <a:ext cx="1810512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تحويل الفشل لتقرير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683496" y="3246120"/>
            <a:ext cx="181051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 Defect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4206240"/>
            <a:ext cx="11064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أي نقطة في المشروع قابلة للتوسع أو الشرح أكتر أثناء المناقشة.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48640" y="4937760"/>
            <a:ext cx="11064240" cy="0"/>
          </a:xfrm>
          <a:prstGeom prst="line">
            <a:avLst/>
          </a:prstGeom>
          <a:noFill/>
          <a:ln w="12700">
            <a:solidFill>
              <a:srgbClr val="3D5AC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5120640"/>
            <a:ext cx="11064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Under Test: </a:t>
            </a:r>
            <a:r>
              <a:rPr lang="en-US" sz="1300" b="1" dirty="0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automationintesting.online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GitHub: </a:t>
            </a:r>
            <a:r>
              <a:rPr lang="en-US" sz="1300" dirty="0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github.com/mwinteringham/restful-booker-platform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342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C4E80"/>
          </a:solidFill>
        </p:spPr>
      </p:sp>
      <p:sp>
        <p:nvSpPr>
          <p:cNvPr id="4" name="Shape 2"/>
          <p:cNvSpPr/>
          <p:nvPr/>
        </p:nvSpPr>
        <p:spPr>
          <a:xfrm>
            <a:off x="3840480" y="0"/>
            <a:ext cx="54864" cy="685800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5" name="Text 3"/>
          <p:cNvSpPr/>
          <p:nvPr/>
        </p:nvSpPr>
        <p:spPr>
          <a:xfrm>
            <a:off x="457200" y="822960"/>
            <a:ext cx="32004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02C39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RBP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274320" y="2194560"/>
            <a:ext cx="338328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Automation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Framework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3611880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DE6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Restful Booker Platform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06240" y="1371600"/>
            <a:ext cx="768096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Manual &amp; Automation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Testing Project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206240" y="3017520"/>
            <a:ext cx="1828800" cy="384048"/>
          </a:xfrm>
          <a:prstGeom prst="roundRect">
            <a:avLst>
              <a:gd name="adj" fmla="val 21429"/>
            </a:avLst>
          </a:prstGeom>
          <a:solidFill>
            <a:srgbClr val="2E75B6"/>
          </a:solidFill>
        </p:spPr>
      </p:sp>
      <p:sp>
        <p:nvSpPr>
          <p:cNvPr id="10" name="Text 8"/>
          <p:cNvSpPr/>
          <p:nvPr/>
        </p:nvSpPr>
        <p:spPr>
          <a:xfrm>
            <a:off x="4206240" y="3017520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44768" y="3017520"/>
            <a:ext cx="1828800" cy="384048"/>
          </a:xfrm>
          <a:prstGeom prst="roundRect">
            <a:avLst>
              <a:gd name="adj" fmla="val 21429"/>
            </a:avLst>
          </a:prstGeom>
          <a:solidFill>
            <a:srgbClr val="028090"/>
          </a:solidFill>
        </p:spPr>
      </p:sp>
      <p:sp>
        <p:nvSpPr>
          <p:cNvPr id="12" name="Text 10"/>
          <p:cNvSpPr/>
          <p:nvPr/>
        </p:nvSpPr>
        <p:spPr>
          <a:xfrm>
            <a:off x="6144768" y="3017520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Selenium WebDriver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83296" y="3017520"/>
            <a:ext cx="1828800" cy="384048"/>
          </a:xfrm>
          <a:prstGeom prst="roundRect">
            <a:avLst>
              <a:gd name="adj" fmla="val 21429"/>
            </a:avLst>
          </a:prstGeom>
          <a:solidFill>
            <a:srgbClr val="1C4E80"/>
          </a:solidFill>
        </p:spPr>
      </p:sp>
      <p:sp>
        <p:nvSpPr>
          <p:cNvPr id="14" name="Text 12"/>
          <p:cNvSpPr/>
          <p:nvPr/>
        </p:nvSpPr>
        <p:spPr>
          <a:xfrm>
            <a:off x="8083296" y="3017520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021824" y="3017520"/>
            <a:ext cx="1828800" cy="384048"/>
          </a:xfrm>
          <a:prstGeom prst="roundRect">
            <a:avLst>
              <a:gd name="adj" fmla="val 21429"/>
            </a:avLst>
          </a:prstGeom>
          <a:solidFill>
            <a:srgbClr val="0A2342"/>
          </a:solidFill>
        </p:spPr>
      </p:sp>
      <p:sp>
        <p:nvSpPr>
          <p:cNvPr id="16" name="Text 14"/>
          <p:cNvSpPr/>
          <p:nvPr/>
        </p:nvSpPr>
        <p:spPr>
          <a:xfrm>
            <a:off x="10021824" y="3017520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Page Object Model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206240" y="3703320"/>
            <a:ext cx="2011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DE6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Site Under Test: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63640" y="3703320"/>
            <a:ext cx="5577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https://automationintesting.online/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06240" y="4297680"/>
            <a:ext cx="22860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DE6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92240" y="4297680"/>
            <a:ext cx="53035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Manual Testing  +  Automation Framework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206240" y="4919472"/>
            <a:ext cx="22860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DE6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Testing Types: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92240" y="4919472"/>
            <a:ext cx="53035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Functional  ·  Positive  ·  Negative  ·  BVA  ·  DDT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206240" y="5541264"/>
            <a:ext cx="22860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DE6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Modules Covered: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92240" y="5541264"/>
            <a:ext cx="53035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Login  ·  Rooms  ·  Booking  ·  Contact  ·  Branding  ·  Reports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</p:spPr>
      </p:sp>
      <p:sp>
        <p:nvSpPr>
          <p:cNvPr id="3" name="Text 1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234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Table of Contents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11274552" cy="36576"/>
          </a:xfrm>
          <a:prstGeom prst="rect">
            <a:avLst/>
          </a:prstGeom>
          <a:solidFill>
            <a:srgbClr val="2E75B6"/>
          </a:solidFill>
        </p:spPr>
      </p:sp>
      <p:sp>
        <p:nvSpPr>
          <p:cNvPr id="5" name="Shape 3"/>
          <p:cNvSpPr/>
          <p:nvPr/>
        </p:nvSpPr>
        <p:spPr>
          <a:xfrm>
            <a:off x="457200" y="1005840"/>
            <a:ext cx="55778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effectLst>
            <a:outerShdw blurRad="63500" dist="25400" dir="2700000" algn="bl" rotWithShape="0">
              <a:srgbClr val="AAAAAA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914400" cy="1600200"/>
          </a:xfrm>
          <a:prstGeom prst="roundRect">
            <a:avLst>
              <a:gd name="adj" fmla="val 10000"/>
            </a:avLst>
          </a:prstGeom>
          <a:solidFill>
            <a:srgbClr val="2E75B6"/>
          </a:solidFill>
        </p:spPr>
      </p:sp>
      <p:sp>
        <p:nvSpPr>
          <p:cNvPr id="7" name="Text 5"/>
          <p:cNvSpPr/>
          <p:nvPr/>
        </p:nvSpPr>
        <p:spPr>
          <a:xfrm>
            <a:off x="457200" y="1508760"/>
            <a:ext cx="9144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508760" y="1261872"/>
            <a:ext cx="43891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34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Application Under Test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08760" y="1810512"/>
            <a:ext cx="4389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the website does — Guest flow vs Admin panel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788920"/>
            <a:ext cx="55778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effectLst>
            <a:outerShdw blurRad="63500" dist="25400" dir="2700000" algn="bl" rotWithShape="0">
              <a:srgbClr val="AAAAAA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788920"/>
            <a:ext cx="914400" cy="1600200"/>
          </a:xfrm>
          <a:prstGeom prst="roundRect">
            <a:avLst>
              <a:gd name="adj" fmla="val 10000"/>
            </a:avLst>
          </a:prstGeom>
          <a:solidFill>
            <a:srgbClr val="2E75B6"/>
          </a:solidFill>
        </p:spPr>
      </p:sp>
      <p:sp>
        <p:nvSpPr>
          <p:cNvPr id="12" name="Text 10"/>
          <p:cNvSpPr/>
          <p:nvPr/>
        </p:nvSpPr>
        <p:spPr>
          <a:xfrm>
            <a:off x="457200" y="3291840"/>
            <a:ext cx="9144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508760" y="3044952"/>
            <a:ext cx="43891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34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Project Architecture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08760" y="3593592"/>
            <a:ext cx="4389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Layered structure and Page Object Model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572000"/>
            <a:ext cx="55778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effectLst>
            <a:outerShdw blurRad="63500" dist="25400" dir="2700000" algn="bl" rotWithShape="0">
              <a:srgbClr val="AAAAAA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4572000"/>
            <a:ext cx="914400" cy="1600200"/>
          </a:xfrm>
          <a:prstGeom prst="roundRect">
            <a:avLst>
              <a:gd name="adj" fmla="val 10000"/>
            </a:avLst>
          </a:prstGeom>
          <a:solidFill>
            <a:srgbClr val="2E75B6"/>
          </a:solidFill>
        </p:spPr>
      </p:sp>
      <p:sp>
        <p:nvSpPr>
          <p:cNvPr id="17" name="Text 15"/>
          <p:cNvSpPr/>
          <p:nvPr/>
        </p:nvSpPr>
        <p:spPr>
          <a:xfrm>
            <a:off x="457200" y="5074920"/>
            <a:ext cx="9144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508760" y="4828032"/>
            <a:ext cx="43891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34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Page Objects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508760" y="5376672"/>
            <a:ext cx="4389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each page class contains and why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55080" y="1005840"/>
            <a:ext cx="55778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effectLst>
            <a:outerShdw blurRad="63500" dist="25400" dir="2700000" algn="bl" rotWithShape="0">
              <a:srgbClr val="AAAAAA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55080" y="1005840"/>
            <a:ext cx="914400" cy="1600200"/>
          </a:xfrm>
          <a:prstGeom prst="roundRect">
            <a:avLst>
              <a:gd name="adj" fmla="val 10000"/>
            </a:avLst>
          </a:prstGeom>
          <a:solidFill>
            <a:srgbClr val="2E75B6"/>
          </a:solidFill>
        </p:spPr>
      </p:sp>
      <p:sp>
        <p:nvSpPr>
          <p:cNvPr id="22" name="Text 20"/>
          <p:cNvSpPr/>
          <p:nvPr/>
        </p:nvSpPr>
        <p:spPr>
          <a:xfrm>
            <a:off x="6355080" y="1508760"/>
            <a:ext cx="9144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04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7406640" y="1261872"/>
            <a:ext cx="43891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34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Test Strategy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406640" y="1810512"/>
            <a:ext cx="4389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Happy path, Negative, Boundary Value Analysis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55080" y="2788920"/>
            <a:ext cx="55778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effectLst>
            <a:outerShdw blurRad="63500" dist="25400" dir="2700000" algn="bl" rotWithShape="0">
              <a:srgbClr val="AAAAAA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355080" y="2788920"/>
            <a:ext cx="914400" cy="1600200"/>
          </a:xfrm>
          <a:prstGeom prst="roundRect">
            <a:avLst>
              <a:gd name="adj" fmla="val 10000"/>
            </a:avLst>
          </a:prstGeom>
          <a:solidFill>
            <a:srgbClr val="2E75B6"/>
          </a:solidFill>
        </p:spPr>
      </p:sp>
      <p:sp>
        <p:nvSpPr>
          <p:cNvPr id="27" name="Text 25"/>
          <p:cNvSpPr/>
          <p:nvPr/>
        </p:nvSpPr>
        <p:spPr>
          <a:xfrm>
            <a:off x="6355080" y="3291840"/>
            <a:ext cx="9144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05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7406640" y="3044952"/>
            <a:ext cx="43891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34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Data-Driven Testing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406640" y="3593592"/>
            <a:ext cx="4389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Three ways to supply test data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355080" y="4572000"/>
            <a:ext cx="55778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effectLst>
            <a:outerShdw blurRad="63500" dist="25400" dir="2700000" algn="bl" rotWithShape="0">
              <a:srgbClr val="AAAAAA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55080" y="4572000"/>
            <a:ext cx="914400" cy="1600200"/>
          </a:xfrm>
          <a:prstGeom prst="roundRect">
            <a:avLst>
              <a:gd name="adj" fmla="val 10000"/>
            </a:avLst>
          </a:prstGeom>
          <a:solidFill>
            <a:srgbClr val="2E75B6"/>
          </a:solidFill>
        </p:spPr>
      </p:sp>
      <p:sp>
        <p:nvSpPr>
          <p:cNvPr id="32" name="Text 30"/>
          <p:cNvSpPr/>
          <p:nvPr/>
        </p:nvSpPr>
        <p:spPr>
          <a:xfrm>
            <a:off x="6355080" y="5074920"/>
            <a:ext cx="9144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06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7406640" y="4828032"/>
            <a:ext cx="43891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34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Execution &amp; Results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406640" y="5376672"/>
            <a:ext cx="4389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Suites, how to run, and what happens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</p:spPr>
      </p:sp>
      <p:sp>
        <p:nvSpPr>
          <p:cNvPr id="3" name="Text 1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234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01  —  Application Under Test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11274552" cy="36576"/>
          </a:xfrm>
          <a:prstGeom prst="rect">
            <a:avLst/>
          </a:prstGeom>
          <a:solidFill>
            <a:srgbClr val="2E75B6"/>
          </a:solidFill>
        </p:spPr>
      </p:sp>
      <p:sp>
        <p:nvSpPr>
          <p:cNvPr id="5" name="Text 3"/>
          <p:cNvSpPr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Restful Booker Platform is a training website that simulates a hotel booking system. It has two distinct user roles — a Guest who makes reservations, and an Administrator who manages the hotel.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5394960" cy="4892040"/>
          </a:xfrm>
          <a:prstGeom prst="roundRect">
            <a:avLst>
              <a:gd name="adj" fmla="val 1869"/>
            </a:avLst>
          </a:prstGeom>
          <a:solidFill>
            <a:srgbClr val="FFFFFF"/>
          </a:solidFill>
          <a:effectLst>
            <a:outerShdw blurRad="63500" dist="25400" dir="2700000" algn="bl" rotWithShape="0">
              <a:srgbClr val="AAAAA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27632"/>
            <a:ext cx="5394960" cy="530352"/>
          </a:xfrm>
          <a:prstGeom prst="roundRect">
            <a:avLst>
              <a:gd name="adj" fmla="val 17241"/>
            </a:avLst>
          </a:prstGeom>
          <a:solidFill>
            <a:srgbClr val="028090"/>
          </a:solidFill>
        </p:spPr>
      </p:sp>
      <p:sp>
        <p:nvSpPr>
          <p:cNvPr id="8" name="Text 6"/>
          <p:cNvSpPr/>
          <p:nvPr/>
        </p:nvSpPr>
        <p:spPr>
          <a:xfrm>
            <a:off x="548640" y="1664208"/>
            <a:ext cx="5212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Guest  —  No Login Required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2340864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028090"/>
          </a:solidFill>
        </p:spPr>
      </p:sp>
      <p:sp>
        <p:nvSpPr>
          <p:cNvPr id="10" name="Text 8"/>
          <p:cNvSpPr/>
          <p:nvPr/>
        </p:nvSpPr>
        <p:spPr>
          <a:xfrm>
            <a:off x="594360" y="2340864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2304288"/>
            <a:ext cx="47091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Browses available rooms on the Homepage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3008376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028090"/>
          </a:solidFill>
        </p:spPr>
      </p:sp>
      <p:sp>
        <p:nvSpPr>
          <p:cNvPr id="13" name="Text 11"/>
          <p:cNvSpPr/>
          <p:nvPr/>
        </p:nvSpPr>
        <p:spPr>
          <a:xfrm>
            <a:off x="594360" y="300837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2971800"/>
            <a:ext cx="47091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Clicks 'Book this room' on a chosen room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" y="3675888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028090"/>
          </a:solidFill>
        </p:spPr>
      </p:sp>
      <p:sp>
        <p:nvSpPr>
          <p:cNvPr id="16" name="Text 14"/>
          <p:cNvSpPr/>
          <p:nvPr/>
        </p:nvSpPr>
        <p:spPr>
          <a:xfrm>
            <a:off x="594360" y="3675888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3639312"/>
            <a:ext cx="47091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Drags on the calendar widget to select dates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" y="4343400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028090"/>
          </a:solidFill>
        </p:spPr>
      </p:sp>
      <p:sp>
        <p:nvSpPr>
          <p:cNvPr id="19" name="Text 17"/>
          <p:cNvSpPr/>
          <p:nvPr/>
        </p:nvSpPr>
        <p:spPr>
          <a:xfrm>
            <a:off x="594360" y="434340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4306824"/>
            <a:ext cx="47091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Fills the booking form (name, email, phone)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4360" y="5010912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028090"/>
          </a:solidFill>
        </p:spPr>
      </p:sp>
      <p:sp>
        <p:nvSpPr>
          <p:cNvPr id="22" name="Text 20"/>
          <p:cNvSpPr/>
          <p:nvPr/>
        </p:nvSpPr>
        <p:spPr>
          <a:xfrm>
            <a:off x="594360" y="501091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4974336"/>
            <a:ext cx="47091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Submits and receives a booking confirmation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94360" y="5678424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028090"/>
          </a:solidFill>
        </p:spPr>
      </p:sp>
      <p:sp>
        <p:nvSpPr>
          <p:cNvPr id="25" name="Text 23"/>
          <p:cNvSpPr/>
          <p:nvPr/>
        </p:nvSpPr>
        <p:spPr>
          <a:xfrm>
            <a:off x="594360" y="5678424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05840" y="5641848"/>
            <a:ext cx="47091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 also send a message via the Contact Form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336792" y="1627632"/>
            <a:ext cx="5394960" cy="4892040"/>
          </a:xfrm>
          <a:prstGeom prst="roundRect">
            <a:avLst>
              <a:gd name="adj" fmla="val 1869"/>
            </a:avLst>
          </a:prstGeom>
          <a:solidFill>
            <a:srgbClr val="FFFFFF"/>
          </a:solidFill>
          <a:effectLst>
            <a:outerShdw blurRad="63500" dist="25400" dir="2700000" algn="bl" rotWithShape="0">
              <a:srgbClr val="AAAAAA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336792" y="1627632"/>
            <a:ext cx="5394960" cy="530352"/>
          </a:xfrm>
          <a:prstGeom prst="roundRect">
            <a:avLst>
              <a:gd name="adj" fmla="val 17241"/>
            </a:avLst>
          </a:prstGeom>
          <a:solidFill>
            <a:srgbClr val="1C4E80"/>
          </a:solidFill>
        </p:spPr>
      </p:sp>
      <p:sp>
        <p:nvSpPr>
          <p:cNvPr id="29" name="Text 27"/>
          <p:cNvSpPr/>
          <p:nvPr/>
        </p:nvSpPr>
        <p:spPr>
          <a:xfrm>
            <a:off x="6428232" y="1664208"/>
            <a:ext cx="5212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Admin  —  admin / password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492240" y="2304288"/>
            <a:ext cx="5120640" cy="502920"/>
          </a:xfrm>
          <a:prstGeom prst="roundRect">
            <a:avLst>
              <a:gd name="adj" fmla="val 18182"/>
            </a:avLst>
          </a:prstGeom>
          <a:solidFill>
            <a:srgbClr val="DDE6F0"/>
          </a:solidFill>
          <a:effectLst>
            <a:outerShdw blurRad="63500" dist="25400" dir="2700000" algn="bl" rotWithShape="0">
              <a:srgbClr val="AAAAAA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92240" y="2304288"/>
            <a:ext cx="658368" cy="502920"/>
          </a:xfrm>
          <a:prstGeom prst="roundRect">
            <a:avLst>
              <a:gd name="adj" fmla="val 12727"/>
            </a:avLst>
          </a:prstGeom>
          <a:solidFill>
            <a:srgbClr val="2E75B6"/>
          </a:solidFill>
        </p:spPr>
      </p:sp>
      <p:sp>
        <p:nvSpPr>
          <p:cNvPr id="32" name="Text 30"/>
          <p:cNvSpPr/>
          <p:nvPr/>
        </p:nvSpPr>
        <p:spPr>
          <a:xfrm>
            <a:off x="6492240" y="2304288"/>
            <a:ext cx="65836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223760" y="2395728"/>
            <a:ext cx="42519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Admin Login &amp; Logout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92240" y="2971800"/>
            <a:ext cx="5120640" cy="502920"/>
          </a:xfrm>
          <a:prstGeom prst="roundRect">
            <a:avLst>
              <a:gd name="adj" fmla="val 18182"/>
            </a:avLst>
          </a:prstGeom>
          <a:solidFill>
            <a:srgbClr val="DDE6F0"/>
          </a:solidFill>
          <a:effectLst>
            <a:outerShdw blurRad="63500" dist="25400" dir="2700000" algn="bl" rotWithShape="0">
              <a:srgbClr val="AAAAAA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92240" y="2971800"/>
            <a:ext cx="658368" cy="502920"/>
          </a:xfrm>
          <a:prstGeom prst="roundRect">
            <a:avLst>
              <a:gd name="adj" fmla="val 12727"/>
            </a:avLst>
          </a:prstGeom>
          <a:solidFill>
            <a:srgbClr val="028090"/>
          </a:solidFill>
        </p:spPr>
      </p:sp>
      <p:sp>
        <p:nvSpPr>
          <p:cNvPr id="36" name="Text 34"/>
          <p:cNvSpPr/>
          <p:nvPr/>
        </p:nvSpPr>
        <p:spPr>
          <a:xfrm>
            <a:off x="6492240" y="2971800"/>
            <a:ext cx="65836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M4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223760" y="3063240"/>
            <a:ext cx="42519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Room Management (CRUD)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492240" y="3639312"/>
            <a:ext cx="5120640" cy="502920"/>
          </a:xfrm>
          <a:prstGeom prst="roundRect">
            <a:avLst>
              <a:gd name="adj" fmla="val 18182"/>
            </a:avLst>
          </a:prstGeom>
          <a:solidFill>
            <a:srgbClr val="DDE6F0"/>
          </a:solidFill>
          <a:effectLst>
            <a:outerShdw blurRad="63500" dist="25400" dir="2700000" algn="bl" rotWithShape="0">
              <a:srgbClr val="AAAAAA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492240" y="3639312"/>
            <a:ext cx="658368" cy="502920"/>
          </a:xfrm>
          <a:prstGeom prst="roundRect">
            <a:avLst>
              <a:gd name="adj" fmla="val 12727"/>
            </a:avLst>
          </a:prstGeom>
          <a:solidFill>
            <a:srgbClr val="1A6B3A"/>
          </a:solidFill>
        </p:spPr>
      </p:sp>
      <p:sp>
        <p:nvSpPr>
          <p:cNvPr id="40" name="Text 38"/>
          <p:cNvSpPr/>
          <p:nvPr/>
        </p:nvSpPr>
        <p:spPr>
          <a:xfrm>
            <a:off x="6492240" y="3639312"/>
            <a:ext cx="65836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M5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223760" y="3730752"/>
            <a:ext cx="42519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View &amp; Manage Bookings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492240" y="4306824"/>
            <a:ext cx="5120640" cy="502920"/>
          </a:xfrm>
          <a:prstGeom prst="roundRect">
            <a:avLst>
              <a:gd name="adj" fmla="val 18182"/>
            </a:avLst>
          </a:prstGeom>
          <a:solidFill>
            <a:srgbClr val="DDE6F0"/>
          </a:solidFill>
          <a:effectLst>
            <a:outerShdw blurRad="63500" dist="25400" dir="2700000" algn="bl" rotWithShape="0">
              <a:srgbClr val="AAAAAA">
                <a:alpha val="1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492240" y="4306824"/>
            <a:ext cx="658368" cy="502920"/>
          </a:xfrm>
          <a:prstGeom prst="roundRect">
            <a:avLst>
              <a:gd name="adj" fmla="val 12727"/>
            </a:avLst>
          </a:prstGeom>
          <a:solidFill>
            <a:srgbClr val="C55A11"/>
          </a:solidFill>
        </p:spPr>
      </p:sp>
      <p:sp>
        <p:nvSpPr>
          <p:cNvPr id="44" name="Text 42"/>
          <p:cNvSpPr/>
          <p:nvPr/>
        </p:nvSpPr>
        <p:spPr>
          <a:xfrm>
            <a:off x="6492240" y="4306824"/>
            <a:ext cx="65836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M6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223760" y="4398264"/>
            <a:ext cx="42519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Messages Inbox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492240" y="4974336"/>
            <a:ext cx="5120640" cy="502920"/>
          </a:xfrm>
          <a:prstGeom prst="roundRect">
            <a:avLst>
              <a:gd name="adj" fmla="val 18182"/>
            </a:avLst>
          </a:prstGeom>
          <a:solidFill>
            <a:srgbClr val="DDE6F0"/>
          </a:solidFill>
          <a:effectLst>
            <a:outerShdw blurRad="63500" dist="25400" dir="2700000" algn="bl" rotWithShape="0">
              <a:srgbClr val="AAAAAA">
                <a:alpha val="1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492240" y="4974336"/>
            <a:ext cx="658368" cy="502920"/>
          </a:xfrm>
          <a:prstGeom prst="roundRect">
            <a:avLst>
              <a:gd name="adj" fmla="val 12727"/>
            </a:avLst>
          </a:prstGeom>
          <a:solidFill>
            <a:srgbClr val="1C4E80"/>
          </a:solidFill>
        </p:spPr>
      </p:sp>
      <p:sp>
        <p:nvSpPr>
          <p:cNvPr id="48" name="Text 46"/>
          <p:cNvSpPr/>
          <p:nvPr/>
        </p:nvSpPr>
        <p:spPr>
          <a:xfrm>
            <a:off x="6492240" y="4974336"/>
            <a:ext cx="65836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M7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223760" y="5065776"/>
            <a:ext cx="42519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Branding Settings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492240" y="5641848"/>
            <a:ext cx="5120640" cy="502920"/>
          </a:xfrm>
          <a:prstGeom prst="roundRect">
            <a:avLst>
              <a:gd name="adj" fmla="val 18182"/>
            </a:avLst>
          </a:prstGeom>
          <a:solidFill>
            <a:srgbClr val="DDE6F0"/>
          </a:solidFill>
          <a:effectLst>
            <a:outerShdw blurRad="63500" dist="25400" dir="2700000" algn="bl" rotWithShape="0">
              <a:srgbClr val="AAAAAA">
                <a:alpha val="1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492240" y="5641848"/>
            <a:ext cx="658368" cy="502920"/>
          </a:xfrm>
          <a:prstGeom prst="roundRect">
            <a:avLst>
              <a:gd name="adj" fmla="val 12727"/>
            </a:avLst>
          </a:prstGeom>
          <a:solidFill>
            <a:srgbClr val="0A2342"/>
          </a:solidFill>
        </p:spPr>
      </p:sp>
      <p:sp>
        <p:nvSpPr>
          <p:cNvPr id="52" name="Text 50"/>
          <p:cNvSpPr/>
          <p:nvPr/>
        </p:nvSpPr>
        <p:spPr>
          <a:xfrm>
            <a:off x="6492240" y="5641848"/>
            <a:ext cx="65836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M8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223760" y="5733288"/>
            <a:ext cx="42519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Reports — Booking Calendar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457200" y="6565392"/>
            <a:ext cx="1127455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55A1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Important: The site automatically resets all data every 10 minutes — tests must be self-contained and create their own test data.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</p:spPr>
      </p:sp>
      <p:sp>
        <p:nvSpPr>
          <p:cNvPr id="3" name="Text 1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234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02  —  Project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11274552" cy="36576"/>
          </a:xfrm>
          <a:prstGeom prst="rect">
            <a:avLst/>
          </a:prstGeom>
          <a:solidFill>
            <a:srgbClr val="2E75B6"/>
          </a:solidFill>
        </p:spPr>
      </p:sp>
      <p:sp>
        <p:nvSpPr>
          <p:cNvPr id="5" name="Text 3"/>
          <p:cNvSpPr/>
          <p:nvPr/>
        </p:nvSpPr>
        <p:spPr>
          <a:xfrm>
            <a:off x="457200" y="960120"/>
            <a:ext cx="1127455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framework follows the Page Object Model (POM) design pattern, which separates the test logic from the page interaction code. This makes tests easier to read, maintain, and scale.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11274552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effectLst>
            <a:outerShdw blurRad="63500" dist="25400" dir="2700000" algn="bl" rotWithShape="0">
              <a:srgbClr val="AAAAA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27632"/>
            <a:ext cx="201168" cy="804672"/>
          </a:xfrm>
          <a:prstGeom prst="roundRect">
            <a:avLst>
              <a:gd name="adj" fmla="val 22727"/>
            </a:avLst>
          </a:prstGeom>
          <a:solidFill>
            <a:srgbClr val="C55A11"/>
          </a:solidFill>
        </p:spPr>
      </p:sp>
      <p:sp>
        <p:nvSpPr>
          <p:cNvPr id="8" name="Text 6"/>
          <p:cNvSpPr/>
          <p:nvPr/>
        </p:nvSpPr>
        <p:spPr>
          <a:xfrm>
            <a:off x="777240" y="1682496"/>
            <a:ext cx="6858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Suite XML Files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26680" y="1719072"/>
            <a:ext cx="3611880" cy="310896"/>
          </a:xfrm>
          <a:prstGeom prst="roundRect">
            <a:avLst>
              <a:gd name="adj" fmla="val 20588"/>
            </a:avLst>
          </a:prstGeom>
          <a:solidFill>
            <a:srgbClr val="C55A11"/>
          </a:solidFill>
        </p:spPr>
      </p:sp>
      <p:sp>
        <p:nvSpPr>
          <p:cNvPr id="10" name="Text 8"/>
          <p:cNvSpPr/>
          <p:nvPr/>
        </p:nvSpPr>
        <p:spPr>
          <a:xfrm>
            <a:off x="7726680" y="1719072"/>
            <a:ext cx="36118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Execution Entry Point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084832"/>
            <a:ext cx="10424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Login_Suite.xml  ·  Room_Suite.xml  ·  contactUs_Suite.xml  ·  Booking_Suite.xml  ·  Branding_Report_Suite.xml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578608"/>
            <a:ext cx="11274552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effectLst>
            <a:outerShdw blurRad="63500" dist="25400" dir="2700000" algn="bl" rotWithShape="0">
              <a:srgbClr val="AAAAAA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578608"/>
            <a:ext cx="201168" cy="804672"/>
          </a:xfrm>
          <a:prstGeom prst="roundRect">
            <a:avLst>
              <a:gd name="adj" fmla="val 22727"/>
            </a:avLst>
          </a:prstGeom>
          <a:solidFill>
            <a:srgbClr val="2E75B6"/>
          </a:solidFill>
        </p:spPr>
      </p:sp>
      <p:sp>
        <p:nvSpPr>
          <p:cNvPr id="14" name="Text 12"/>
          <p:cNvSpPr/>
          <p:nvPr/>
        </p:nvSpPr>
        <p:spPr>
          <a:xfrm>
            <a:off x="777240" y="2633472"/>
            <a:ext cx="6858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Test Classes  (src/test/java/tests/)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726680" y="2670048"/>
            <a:ext cx="3611880" cy="310896"/>
          </a:xfrm>
          <a:prstGeom prst="roundRect">
            <a:avLst>
              <a:gd name="adj" fmla="val 20588"/>
            </a:avLst>
          </a:prstGeom>
          <a:solidFill>
            <a:srgbClr val="2E75B6"/>
          </a:solidFill>
        </p:spPr>
      </p:sp>
      <p:sp>
        <p:nvSpPr>
          <p:cNvPr id="16" name="Text 14"/>
          <p:cNvSpPr/>
          <p:nvPr/>
        </p:nvSpPr>
        <p:spPr>
          <a:xfrm>
            <a:off x="7726680" y="2670048"/>
            <a:ext cx="36118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 Logic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" y="3035808"/>
            <a:ext cx="10424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happyScenario  ·  negativeScenario  ·  WithDDTAndDataProvider  ·  WithDDTAndExcelSheet  ·  WithDDTAndPropertiesFile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529584"/>
            <a:ext cx="11274552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effectLst>
            <a:outerShdw blurRad="63500" dist="25400" dir="2700000" algn="bl" rotWithShape="0">
              <a:srgbClr val="AAAAAA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529584"/>
            <a:ext cx="201168" cy="804672"/>
          </a:xfrm>
          <a:prstGeom prst="roundRect">
            <a:avLst>
              <a:gd name="adj" fmla="val 22727"/>
            </a:avLst>
          </a:prstGeom>
          <a:solidFill>
            <a:srgbClr val="028090"/>
          </a:solidFill>
        </p:spPr>
      </p:sp>
      <p:sp>
        <p:nvSpPr>
          <p:cNvPr id="20" name="Text 18"/>
          <p:cNvSpPr/>
          <p:nvPr/>
        </p:nvSpPr>
        <p:spPr>
          <a:xfrm>
            <a:off x="777240" y="3584448"/>
            <a:ext cx="6858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 &amp; Helpers  (data/ · helpers/)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26680" y="3621024"/>
            <a:ext cx="3611880" cy="310896"/>
          </a:xfrm>
          <a:prstGeom prst="roundRect">
            <a:avLst>
              <a:gd name="adj" fmla="val 20588"/>
            </a:avLst>
          </a:prstGeom>
          <a:solidFill>
            <a:srgbClr val="028090"/>
          </a:solidFill>
        </p:spPr>
      </p:sp>
      <p:sp>
        <p:nvSpPr>
          <p:cNvPr id="22" name="Text 20"/>
          <p:cNvSpPr/>
          <p:nvPr/>
        </p:nvSpPr>
        <p:spPr>
          <a:xfrm>
            <a:off x="7726680" y="3621024"/>
            <a:ext cx="36118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Support Layer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77240" y="3986784"/>
            <a:ext cx="10424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LoadBrowserSetup  ·  LoadRoomHappyAndNegativeDataExcel  ·  LoadContactHappyAndNegativeDataProperties  ·  ScreenShot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480560"/>
            <a:ext cx="11274552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effectLst>
            <a:outerShdw blurRad="63500" dist="25400" dir="2700000" algn="bl" rotWithShape="0">
              <a:srgbClr val="AAAAAA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4480560"/>
            <a:ext cx="201168" cy="804672"/>
          </a:xfrm>
          <a:prstGeom prst="roundRect">
            <a:avLst>
              <a:gd name="adj" fmla="val 22727"/>
            </a:avLst>
          </a:prstGeom>
          <a:solidFill>
            <a:srgbClr val="1C4E80"/>
          </a:solidFill>
        </p:spPr>
      </p:sp>
      <p:sp>
        <p:nvSpPr>
          <p:cNvPr id="26" name="Text 24"/>
          <p:cNvSpPr/>
          <p:nvPr/>
        </p:nvSpPr>
        <p:spPr>
          <a:xfrm>
            <a:off x="777240" y="4535424"/>
            <a:ext cx="6858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Page Objects  (src/main/java/pages/)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726680" y="4572000"/>
            <a:ext cx="3611880" cy="310896"/>
          </a:xfrm>
          <a:prstGeom prst="roundRect">
            <a:avLst>
              <a:gd name="adj" fmla="val 20588"/>
            </a:avLst>
          </a:prstGeom>
          <a:solidFill>
            <a:srgbClr val="1C4E80"/>
          </a:solidFill>
        </p:spPr>
      </p:sp>
      <p:sp>
        <p:nvSpPr>
          <p:cNvPr id="28" name="Text 26"/>
          <p:cNvSpPr/>
          <p:nvPr/>
        </p:nvSpPr>
        <p:spPr>
          <a:xfrm>
            <a:off x="7726680" y="4572000"/>
            <a:ext cx="36118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UI Abstraction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77240" y="4937760"/>
            <a:ext cx="10424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PageBase  ·  AdminLoginPage  ·  RoomManagementPage  ·  BookingPage  ·  ContactUsPage  ·  BrandingPage  ·  ReportPage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5431536"/>
            <a:ext cx="11274552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effectLst>
            <a:outerShdw blurRad="63500" dist="25400" dir="2700000" algn="bl" rotWithShape="0">
              <a:srgbClr val="AAAAAA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" y="5431536"/>
            <a:ext cx="201168" cy="804672"/>
          </a:xfrm>
          <a:prstGeom prst="roundRect">
            <a:avLst>
              <a:gd name="adj" fmla="val 22727"/>
            </a:avLst>
          </a:prstGeom>
          <a:solidFill>
            <a:srgbClr val="0A2342"/>
          </a:solidFill>
        </p:spPr>
      </p:sp>
      <p:sp>
        <p:nvSpPr>
          <p:cNvPr id="32" name="Text 30"/>
          <p:cNvSpPr/>
          <p:nvPr/>
        </p:nvSpPr>
        <p:spPr>
          <a:xfrm>
            <a:off x="777240" y="5486400"/>
            <a:ext cx="6858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Config Files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726680" y="5522976"/>
            <a:ext cx="3611880" cy="310896"/>
          </a:xfrm>
          <a:prstGeom prst="roundRect">
            <a:avLst>
              <a:gd name="adj" fmla="val 20588"/>
            </a:avLst>
          </a:prstGeom>
          <a:solidFill>
            <a:srgbClr val="0A2342"/>
          </a:solidFill>
        </p:spPr>
      </p:sp>
      <p:sp>
        <p:nvSpPr>
          <p:cNvPr id="34" name="Text 32"/>
          <p:cNvSpPr/>
          <p:nvPr/>
        </p:nvSpPr>
        <p:spPr>
          <a:xfrm>
            <a:off x="7726680" y="5522976"/>
            <a:ext cx="36118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 Data &amp; Settings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77240" y="5888736"/>
            <a:ext cx="10424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browserSetup.properties  ·  contactData.properties  ·  RoomData.xlsx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</p:spPr>
      </p:sp>
      <p:sp>
        <p:nvSpPr>
          <p:cNvPr id="3" name="Text 1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234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03  —  Page Objects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11274552" cy="36576"/>
          </a:xfrm>
          <a:prstGeom prst="rect">
            <a:avLst/>
          </a:prstGeom>
          <a:solidFill>
            <a:srgbClr val="2E75B6"/>
          </a:solidFill>
        </p:spPr>
      </p:sp>
      <p:sp>
        <p:nvSpPr>
          <p:cNvPr id="5" name="Text 3"/>
          <p:cNvSpPr/>
          <p:nvPr/>
        </p:nvSpPr>
        <p:spPr>
          <a:xfrm>
            <a:off x="457200" y="960120"/>
            <a:ext cx="1127455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page of the website has a corresponding Java class. Every class uses @FindBy annotations to locate elements, and exposes action methods that the test classes call — keeping tests readable and free of locator details.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11274552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effectLst>
            <a:outerShdw blurRad="63500" dist="25400" dir="2700000" algn="bl" rotWithShape="0">
              <a:srgbClr val="AAAAA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27632"/>
            <a:ext cx="201168" cy="621792"/>
          </a:xfrm>
          <a:prstGeom prst="roundRect">
            <a:avLst>
              <a:gd name="adj" fmla="val 22727"/>
            </a:avLst>
          </a:prstGeom>
          <a:solidFill>
            <a:srgbClr val="2C3E50"/>
          </a:solidFill>
        </p:spPr>
      </p:sp>
      <p:sp>
        <p:nvSpPr>
          <p:cNvPr id="8" name="Text 6"/>
          <p:cNvSpPr/>
          <p:nvPr/>
        </p:nvSpPr>
        <p:spPr>
          <a:xfrm>
            <a:off x="457200" y="1792224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77240" y="1673352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PageBase.java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1956816"/>
            <a:ext cx="108356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Parent of all page classes. Calls PageFactory.initElements() so that @FindBy annotations are wired to WebElement fields automatically on instantiation.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322576"/>
            <a:ext cx="11274552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effectLst>
            <a:outerShdw blurRad="63500" dist="25400" dir="2700000" algn="bl" rotWithShape="0">
              <a:srgbClr val="AAAAAA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322576"/>
            <a:ext cx="201168" cy="621792"/>
          </a:xfrm>
          <a:prstGeom prst="roundRect">
            <a:avLst>
              <a:gd name="adj" fmla="val 22727"/>
            </a:avLst>
          </a:prstGeom>
          <a:solidFill>
            <a:srgbClr val="2E75B6"/>
          </a:solidFill>
        </p:spPr>
      </p:sp>
      <p:sp>
        <p:nvSpPr>
          <p:cNvPr id="13" name="Text 11"/>
          <p:cNvSpPr/>
          <p:nvPr/>
        </p:nvSpPr>
        <p:spPr>
          <a:xfrm>
            <a:off x="457200" y="2487168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M3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777240" y="2368296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AdminLoginPage.java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2651760"/>
            <a:ext cx="108356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Holds the username field, password field, login button, logout button, and error message element. Exposes userCanLogin() and userCanLogout() methods.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11274552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effectLst>
            <a:outerShdw blurRad="63500" dist="25400" dir="2700000" algn="bl" rotWithShape="0">
              <a:srgbClr val="AAAAAA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017520"/>
            <a:ext cx="201168" cy="621792"/>
          </a:xfrm>
          <a:prstGeom prst="roundRect">
            <a:avLst>
              <a:gd name="adj" fmla="val 22727"/>
            </a:avLst>
          </a:prstGeom>
          <a:solidFill>
            <a:srgbClr val="028090"/>
          </a:solidFill>
        </p:spPr>
      </p:sp>
      <p:sp>
        <p:nvSpPr>
          <p:cNvPr id="18" name="Text 16"/>
          <p:cNvSpPr/>
          <p:nvPr/>
        </p:nvSpPr>
        <p:spPr>
          <a:xfrm>
            <a:off x="457200" y="3182112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M4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777240" y="306324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RoomManagementPage.java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7240" y="3346704"/>
            <a:ext cx="108356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Contains the room creation form fields, a list of existing room name elements, and edit/delete buttons. Exposes userCanCreateRoom(), userCanDeleteRoom(), and userCanEditRoom().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712464"/>
            <a:ext cx="11274552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effectLst>
            <a:outerShdw blurRad="63500" dist="25400" dir="2700000" algn="bl" rotWithShape="0">
              <a:srgbClr val="AAAAAA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712464"/>
            <a:ext cx="201168" cy="621792"/>
          </a:xfrm>
          <a:prstGeom prst="roundRect">
            <a:avLst>
              <a:gd name="adj" fmla="val 22727"/>
            </a:avLst>
          </a:prstGeom>
          <a:solidFill>
            <a:srgbClr val="1A6B3A"/>
          </a:solidFill>
        </p:spPr>
      </p:sp>
      <p:sp>
        <p:nvSpPr>
          <p:cNvPr id="23" name="Text 21"/>
          <p:cNvSpPr/>
          <p:nvPr/>
        </p:nvSpPr>
        <p:spPr>
          <a:xfrm>
            <a:off x="457200" y="3877056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M5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777240" y="3758184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6B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BookingPage.java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77240" y="4041648"/>
            <a:ext cx="108356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Provides access to 'Book this room' buttons, the calendar day cells, and the booking form fields. userCanSelectDates() performs a click-and-drag on the calendar widget.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407408"/>
            <a:ext cx="11274552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effectLst>
            <a:outerShdw blurRad="63500" dist="25400" dir="2700000" algn="bl" rotWithShape="0">
              <a:srgbClr val="AAAAAA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4407408"/>
            <a:ext cx="201168" cy="621792"/>
          </a:xfrm>
          <a:prstGeom prst="roundRect">
            <a:avLst>
              <a:gd name="adj" fmla="val 22727"/>
            </a:avLst>
          </a:prstGeom>
          <a:solidFill>
            <a:srgbClr val="C55A11"/>
          </a:solidFill>
        </p:spPr>
      </p:sp>
      <p:sp>
        <p:nvSpPr>
          <p:cNvPr id="28" name="Text 26"/>
          <p:cNvSpPr/>
          <p:nvPr/>
        </p:nvSpPr>
        <p:spPr>
          <a:xfrm>
            <a:off x="457200" y="4572000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M6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777240" y="4453128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55A1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ContactUsPage.java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77240" y="4736592"/>
            <a:ext cx="108356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Maps the contact form fields (name, email, phone, subject, description), the submit button, and both the success and error messages. Exposes userCanContactUs().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5102352"/>
            <a:ext cx="11274552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effectLst>
            <a:outerShdw blurRad="63500" dist="25400" dir="2700000" algn="bl" rotWithShape="0">
              <a:srgbClr val="AAAAAA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7200" y="5102352"/>
            <a:ext cx="201168" cy="621792"/>
          </a:xfrm>
          <a:prstGeom prst="roundRect">
            <a:avLst>
              <a:gd name="adj" fmla="val 22727"/>
            </a:avLst>
          </a:prstGeom>
          <a:solidFill>
            <a:srgbClr val="1C4E80"/>
          </a:solidFill>
        </p:spPr>
      </p:sp>
      <p:sp>
        <p:nvSpPr>
          <p:cNvPr id="33" name="Text 31"/>
          <p:cNvSpPr/>
          <p:nvPr/>
        </p:nvSpPr>
        <p:spPr>
          <a:xfrm>
            <a:off x="457200" y="5266944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M7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777240" y="5148072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4E8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BrandingPage.java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77240" y="5431536"/>
            <a:ext cx="108356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Contains inputs for hotel name, logo URL, contact phone, and contact email, plus the update button. Exposes userCanUpdateBranding().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5797296"/>
            <a:ext cx="11274552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effectLst>
            <a:outerShdw blurRad="63500" dist="25400" dir="2700000" algn="bl" rotWithShape="0">
              <a:srgbClr val="AAAAAA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57200" y="5797296"/>
            <a:ext cx="201168" cy="621792"/>
          </a:xfrm>
          <a:prstGeom prst="roundRect">
            <a:avLst>
              <a:gd name="adj" fmla="val 22727"/>
            </a:avLst>
          </a:prstGeom>
          <a:solidFill>
            <a:srgbClr val="0A2342"/>
          </a:solidFill>
        </p:spPr>
      </p:sp>
      <p:sp>
        <p:nvSpPr>
          <p:cNvPr id="38" name="Text 36"/>
          <p:cNvSpPr/>
          <p:nvPr/>
        </p:nvSpPr>
        <p:spPr>
          <a:xfrm>
            <a:off x="457200" y="5961888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M8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777240" y="5843016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ReportPage.java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77240" y="6126480"/>
            <a:ext cx="108356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Exposes the calendar view, booking block elements, the current month label, and previous/next month navigation buttons.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</p:spPr>
      </p:sp>
      <p:sp>
        <p:nvSpPr>
          <p:cNvPr id="3" name="Text 1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234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04  —  Test Strategy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11274552" cy="36576"/>
          </a:xfrm>
          <a:prstGeom prst="rect">
            <a:avLst/>
          </a:prstGeom>
          <a:solidFill>
            <a:srgbClr val="2E75B6"/>
          </a:solidFill>
        </p:spPr>
      </p:sp>
      <p:sp>
        <p:nvSpPr>
          <p:cNvPr id="5" name="Text 3"/>
          <p:cNvSpPr/>
          <p:nvPr/>
        </p:nvSpPr>
        <p:spPr>
          <a:xfrm>
            <a:off x="457200" y="960120"/>
            <a:ext cx="1127455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 every module we wrote two categories of tests. Together they verify that the application both accepts valid inputs correctly and rejects invalid inputs gracefully.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5394960" cy="4983480"/>
          </a:xfrm>
          <a:prstGeom prst="roundRect">
            <a:avLst>
              <a:gd name="adj" fmla="val 1835"/>
            </a:avLst>
          </a:prstGeom>
          <a:solidFill>
            <a:srgbClr val="FFFFFF"/>
          </a:solidFill>
          <a:effectLst>
            <a:outerShdw blurRad="63500" dist="25400" dir="2700000" algn="bl" rotWithShape="0">
              <a:srgbClr val="AAAAA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72768"/>
            <a:ext cx="5394960" cy="530352"/>
          </a:xfrm>
          <a:prstGeom prst="roundRect">
            <a:avLst>
              <a:gd name="adj" fmla="val 17241"/>
            </a:avLst>
          </a:prstGeom>
          <a:solidFill>
            <a:srgbClr val="1A6B3A"/>
          </a:solidFill>
        </p:spPr>
      </p:sp>
      <p:sp>
        <p:nvSpPr>
          <p:cNvPr id="8" name="Text 6"/>
          <p:cNvSpPr/>
          <p:nvPr/>
        </p:nvSpPr>
        <p:spPr>
          <a:xfrm>
            <a:off x="566928" y="1609344"/>
            <a:ext cx="517550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Happy Path Testing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21792" y="2240280"/>
            <a:ext cx="1417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it is: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84832" y="2240280"/>
            <a:ext cx="363931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Tests that use valid, correct input data and verify the system behaves as expected.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1792" y="2935224"/>
            <a:ext cx="1417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Login: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84832" y="2935224"/>
            <a:ext cx="363931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 credentials → admin dashboard appears, logout button enabled.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" y="3630168"/>
            <a:ext cx="1417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Rooms: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84832" y="3630168"/>
            <a:ext cx="363931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 Single / Double / Suite rooms with valid name, type, and price → room appears in list.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" y="4325112"/>
            <a:ext cx="1417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Booking: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84832" y="4325112"/>
            <a:ext cx="363931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Select future dates, fill form with valid name/email/phone → booking confirmation displayed.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" y="5020056"/>
            <a:ext cx="1417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Contact: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84832" y="5020056"/>
            <a:ext cx="363931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Fill all fields with valid data → success message 'Thanks for getting in touch' shown.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" y="5715000"/>
            <a:ext cx="1417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Branding: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084832" y="5715000"/>
            <a:ext cx="363931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Update hotel name and contact details → changes saved without errors.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36792" y="1572768"/>
            <a:ext cx="5394960" cy="4983480"/>
          </a:xfrm>
          <a:prstGeom prst="roundRect">
            <a:avLst>
              <a:gd name="adj" fmla="val 1835"/>
            </a:avLst>
          </a:prstGeom>
          <a:solidFill>
            <a:srgbClr val="FFFFFF"/>
          </a:solidFill>
          <a:effectLst>
            <a:outerShdw blurRad="63500" dist="25400" dir="2700000" algn="bl" rotWithShape="0">
              <a:srgbClr val="AAAAAA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36792" y="1572768"/>
            <a:ext cx="5394960" cy="530352"/>
          </a:xfrm>
          <a:prstGeom prst="roundRect">
            <a:avLst>
              <a:gd name="adj" fmla="val 17241"/>
            </a:avLst>
          </a:prstGeom>
          <a:solidFill>
            <a:srgbClr val="C55A11"/>
          </a:solidFill>
        </p:spPr>
      </p:sp>
      <p:sp>
        <p:nvSpPr>
          <p:cNvPr id="23" name="Text 21"/>
          <p:cNvSpPr/>
          <p:nvPr/>
        </p:nvSpPr>
        <p:spPr>
          <a:xfrm>
            <a:off x="6446520" y="1609344"/>
            <a:ext cx="517550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Negative Testing  +  BVA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92240" y="2240280"/>
            <a:ext cx="1417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55A1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it is: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955280" y="2240280"/>
            <a:ext cx="363931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Tests with invalid, blank, or boundary-edge inputs — verifies error messages appear correctly.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92240" y="2935224"/>
            <a:ext cx="1417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55A1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Login: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955280" y="2935224"/>
            <a:ext cx="363931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Wrong password, wrong username, empty fields → 'Invalid credentials' error shown.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92240" y="3630168"/>
            <a:ext cx="1417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55A1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Rooms: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955280" y="3630168"/>
            <a:ext cx="363931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Blank name, zero/negative price, letters in price field → error messages displayed.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92240" y="4325112"/>
            <a:ext cx="1417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55A1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Booking: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955280" y="4325112"/>
            <a:ext cx="363931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Name &lt; 3 chars, blank email, phone &lt; 11 digits, empty form → validation errors shown.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92240" y="5020056"/>
            <a:ext cx="1417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55A1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Contact: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955280" y="5020056"/>
            <a:ext cx="363931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Name &lt; 3, subject &lt; 5, message &lt; 20, invalid email → corresponding errors appear.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92240" y="5715000"/>
            <a:ext cx="1417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55A1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BVA: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955280" y="5715000"/>
            <a:ext cx="363931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 at exact boundary values: min-1, min, max, max+1 for all character-length rules.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</p:spPr>
      </p:sp>
      <p:sp>
        <p:nvSpPr>
          <p:cNvPr id="3" name="Text 1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234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05  —  Data-Driven Testing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11274552" cy="36576"/>
          </a:xfrm>
          <a:prstGeom prst="rect">
            <a:avLst/>
          </a:prstGeom>
          <a:solidFill>
            <a:srgbClr val="2E75B6"/>
          </a:solidFill>
        </p:spPr>
      </p:sp>
      <p:sp>
        <p:nvSpPr>
          <p:cNvPr id="5" name="Text 3"/>
          <p:cNvSpPr/>
          <p:nvPr/>
        </p:nvSpPr>
        <p:spPr>
          <a:xfrm>
            <a:off x="457200" y="960120"/>
            <a:ext cx="1127455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Rather than writing a separate test for every data combination, Data-Driven Testing (DDT) runs the same test logic against multiple data sets. We used three different data sources.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09344"/>
            <a:ext cx="3730752" cy="5074920"/>
          </a:xfrm>
          <a:prstGeom prst="roundRect">
            <a:avLst>
              <a:gd name="adj" fmla="val 2451"/>
            </a:avLst>
          </a:prstGeom>
          <a:solidFill>
            <a:srgbClr val="FFFFFF"/>
          </a:solidFill>
          <a:effectLst>
            <a:outerShdw blurRad="63500" dist="25400" dir="2700000" algn="bl" rotWithShape="0">
              <a:srgbClr val="AAAAA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09344"/>
            <a:ext cx="3730752" cy="566928"/>
          </a:xfrm>
          <a:prstGeom prst="roundRect">
            <a:avLst>
              <a:gd name="adj" fmla="val 16129"/>
            </a:avLst>
          </a:prstGeom>
          <a:solidFill>
            <a:srgbClr val="2E75B6"/>
          </a:solidFill>
        </p:spPr>
      </p:sp>
      <p:sp>
        <p:nvSpPr>
          <p:cNvPr id="8" name="Text 6"/>
          <p:cNvSpPr/>
          <p:nvPr/>
        </p:nvSpPr>
        <p:spPr>
          <a:xfrm>
            <a:off x="566928" y="1645920"/>
            <a:ext cx="351129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01. @DataProvider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1792" y="2322576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5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When: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1792" y="2596896"/>
            <a:ext cx="33832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Small, simple data sets defined inline.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1792" y="3054096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5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it works: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" y="3328416"/>
            <a:ext cx="338328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method annotated with @DataProvider returns an Object[][] table. TestNG calls the @Test method once per row, injecting the row values as parameters.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1792" y="4133088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5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File: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1792" y="4407408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Defined inside the test class itself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6928" y="4727448"/>
            <a:ext cx="3511296" cy="914400"/>
          </a:xfrm>
          <a:prstGeom prst="roundRect">
            <a:avLst>
              <a:gd name="adj" fmla="val 8000"/>
            </a:avLst>
          </a:prstGeom>
          <a:solidFill>
            <a:srgbClr val="0A2342"/>
          </a:solidFill>
        </p:spPr>
      </p:sp>
      <p:sp>
        <p:nvSpPr>
          <p:cNvPr id="16" name="Text 14"/>
          <p:cNvSpPr/>
          <p:nvPr/>
        </p:nvSpPr>
        <p:spPr>
          <a:xfrm>
            <a:off x="640080" y="4773168"/>
            <a:ext cx="3364992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2C39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{"admin", "password", true},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2C39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{"wrongUser", "pass", false}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370832" y="1609344"/>
            <a:ext cx="3730752" cy="5074920"/>
          </a:xfrm>
          <a:prstGeom prst="roundRect">
            <a:avLst>
              <a:gd name="adj" fmla="val 2451"/>
            </a:avLst>
          </a:prstGeom>
          <a:solidFill>
            <a:srgbClr val="FFFFFF"/>
          </a:solidFill>
          <a:effectLst>
            <a:outerShdw blurRad="63500" dist="25400" dir="2700000" algn="bl" rotWithShape="0">
              <a:srgbClr val="AAAAAA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70832" y="1609344"/>
            <a:ext cx="3730752" cy="566928"/>
          </a:xfrm>
          <a:prstGeom prst="roundRect">
            <a:avLst>
              <a:gd name="adj" fmla="val 16129"/>
            </a:avLst>
          </a:prstGeom>
          <a:solidFill>
            <a:srgbClr val="028090"/>
          </a:solidFill>
        </p:spPr>
      </p:sp>
      <p:sp>
        <p:nvSpPr>
          <p:cNvPr id="19" name="Text 17"/>
          <p:cNvSpPr/>
          <p:nvPr/>
        </p:nvSpPr>
        <p:spPr>
          <a:xfrm>
            <a:off x="4480560" y="1645920"/>
            <a:ext cx="351129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02. Properties File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35424" y="2322576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When: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35424" y="2596896"/>
            <a:ext cx="33832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that changes between environments without touching code.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35424" y="3054096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it works: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35424" y="3328416"/>
            <a:ext cx="338328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LoadContactHappyAndNegativeDataProperties.java opens contactData.properties with FileInputStream, loads it into a Properties object, and exposes values by key name.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35424" y="4133088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File: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35424" y="4407408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contactData.properties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480560" y="4727448"/>
            <a:ext cx="3511296" cy="914400"/>
          </a:xfrm>
          <a:prstGeom prst="roundRect">
            <a:avLst>
              <a:gd name="adj" fmla="val 8000"/>
            </a:avLst>
          </a:prstGeom>
          <a:solidFill>
            <a:srgbClr val="0A2342"/>
          </a:solidFill>
        </p:spPr>
      </p:sp>
      <p:sp>
        <p:nvSpPr>
          <p:cNvPr id="27" name="Text 25"/>
          <p:cNvSpPr/>
          <p:nvPr/>
        </p:nvSpPr>
        <p:spPr>
          <a:xfrm>
            <a:off x="4553712" y="4773168"/>
            <a:ext cx="3364992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2C39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adminUsername=admin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2C39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adminPassword=password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2C39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adminInvalidPassword=wrong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284464" y="1609344"/>
            <a:ext cx="3730752" cy="5074920"/>
          </a:xfrm>
          <a:prstGeom prst="roundRect">
            <a:avLst>
              <a:gd name="adj" fmla="val 2451"/>
            </a:avLst>
          </a:prstGeom>
          <a:solidFill>
            <a:srgbClr val="FFFFFF"/>
          </a:solidFill>
          <a:effectLst>
            <a:outerShdw blurRad="63500" dist="25400" dir="2700000" algn="bl" rotWithShape="0">
              <a:srgbClr val="AAAAAA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284464" y="1609344"/>
            <a:ext cx="3730752" cy="566928"/>
          </a:xfrm>
          <a:prstGeom prst="roundRect">
            <a:avLst>
              <a:gd name="adj" fmla="val 16129"/>
            </a:avLst>
          </a:prstGeom>
          <a:solidFill>
            <a:srgbClr val="C55A11"/>
          </a:solidFill>
        </p:spPr>
      </p:sp>
      <p:sp>
        <p:nvSpPr>
          <p:cNvPr id="30" name="Text 28"/>
          <p:cNvSpPr/>
          <p:nvPr/>
        </p:nvSpPr>
        <p:spPr>
          <a:xfrm>
            <a:off x="8394192" y="1645920"/>
            <a:ext cx="351129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03. Excel Sheet  (Apache POI)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449056" y="2322576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55A1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When: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449056" y="2596896"/>
            <a:ext cx="33832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Large data sets better managed in a spreadsheet.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449056" y="3054096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55A1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it works: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449056" y="3328416"/>
            <a:ext cx="338328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LoadRoomHappyAndNegativeDataExcel.java uses XSSFWorkbook to open RoomData.xlsx, iterates rows and cells, and returns the data as Object[][] for TestNG.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449056" y="4133088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55A1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File: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449056" y="4407408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RoomData.xlsx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394192" y="4727448"/>
            <a:ext cx="3511296" cy="914400"/>
          </a:xfrm>
          <a:prstGeom prst="roundRect">
            <a:avLst>
              <a:gd name="adj" fmla="val 8000"/>
            </a:avLst>
          </a:prstGeom>
          <a:solidFill>
            <a:srgbClr val="0A2342"/>
          </a:solidFill>
        </p:spPr>
      </p:sp>
      <p:sp>
        <p:nvSpPr>
          <p:cNvPr id="38" name="Text 36"/>
          <p:cNvSpPr/>
          <p:nvPr/>
        </p:nvSpPr>
        <p:spPr>
          <a:xfrm>
            <a:off x="8467344" y="4773168"/>
            <a:ext cx="3364992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2C39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name  | type   | price | isSuccessful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2C39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Room1 | Single | 99    | true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2C39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Room2 |        |  0    | false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</p:spPr>
      </p:sp>
      <p:sp>
        <p:nvSpPr>
          <p:cNvPr id="3" name="Text 1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234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06  —  Execution &amp; Results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11274552" cy="36576"/>
          </a:xfrm>
          <a:prstGeom prst="rect">
            <a:avLst/>
          </a:prstGeom>
          <a:solidFill>
            <a:srgbClr val="2E75B6"/>
          </a:solidFill>
        </p:spPr>
      </p:sp>
      <p:sp>
        <p:nvSpPr>
          <p:cNvPr id="5" name="Text 3"/>
          <p:cNvSpPr/>
          <p:nvPr/>
        </p:nvSpPr>
        <p:spPr>
          <a:xfrm>
            <a:off x="457200" y="960120"/>
            <a:ext cx="1127455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TestNG Suite XML files are the execution entry points. Each suite specifies which test classes to run and in what order. TestBase manages the browser lifecycle for every test class.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5047488" cy="50292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effectLst>
            <a:outerShdw blurRad="63500" dist="25400" dir="2700000" algn="bl" rotWithShape="0">
              <a:srgbClr val="AAAAA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00200"/>
            <a:ext cx="5047488" cy="493776"/>
          </a:xfrm>
          <a:prstGeom prst="roundRect">
            <a:avLst>
              <a:gd name="adj" fmla="val 18519"/>
            </a:avLst>
          </a:prstGeom>
          <a:solidFill>
            <a:srgbClr val="2E75B6"/>
          </a:solidFill>
        </p:spPr>
      </p:sp>
      <p:sp>
        <p:nvSpPr>
          <p:cNvPr id="8" name="Text 6"/>
          <p:cNvSpPr/>
          <p:nvPr/>
        </p:nvSpPr>
        <p:spPr>
          <a:xfrm>
            <a:off x="566928" y="1636776"/>
            <a:ext cx="4828032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Suite Files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2212848"/>
            <a:ext cx="4791456" cy="749808"/>
          </a:xfrm>
          <a:prstGeom prst="roundRect">
            <a:avLst>
              <a:gd name="adj" fmla="val 12195"/>
            </a:avLst>
          </a:prstGeom>
          <a:solidFill>
            <a:srgbClr val="F4F7FB"/>
          </a:solidFill>
          <a:effectLst>
            <a:outerShdw blurRad="63500" dist="25400" dir="2700000" algn="bl" rotWithShape="0">
              <a:srgbClr val="AAAAA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" y="2212848"/>
            <a:ext cx="164592" cy="749808"/>
          </a:xfrm>
          <a:prstGeom prst="roundRect">
            <a:avLst>
              <a:gd name="adj" fmla="val 22222"/>
            </a:avLst>
          </a:prstGeom>
          <a:solidFill>
            <a:srgbClr val="2E75B6"/>
          </a:solidFill>
        </p:spPr>
      </p:sp>
      <p:sp>
        <p:nvSpPr>
          <p:cNvPr id="11" name="Text 9"/>
          <p:cNvSpPr/>
          <p:nvPr/>
        </p:nvSpPr>
        <p:spPr>
          <a:xfrm>
            <a:off x="841248" y="2267712"/>
            <a:ext cx="44622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Login_Suite.xml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596896"/>
            <a:ext cx="44622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adminLogin_happy  ·  adminLogin_negative  ·  DDT variants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4360" y="3072384"/>
            <a:ext cx="4791456" cy="749808"/>
          </a:xfrm>
          <a:prstGeom prst="roundRect">
            <a:avLst>
              <a:gd name="adj" fmla="val 12195"/>
            </a:avLst>
          </a:prstGeom>
          <a:solidFill>
            <a:srgbClr val="F4F7FB"/>
          </a:solidFill>
          <a:effectLst>
            <a:outerShdw blurRad="63500" dist="25400" dir="2700000" algn="bl" rotWithShape="0">
              <a:srgbClr val="AAAAAA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4360" y="3072384"/>
            <a:ext cx="164592" cy="749808"/>
          </a:xfrm>
          <a:prstGeom prst="roundRect">
            <a:avLst>
              <a:gd name="adj" fmla="val 22222"/>
            </a:avLst>
          </a:prstGeom>
          <a:solidFill>
            <a:srgbClr val="028090"/>
          </a:solidFill>
        </p:spPr>
      </p:sp>
      <p:sp>
        <p:nvSpPr>
          <p:cNvPr id="15" name="Text 13"/>
          <p:cNvSpPr/>
          <p:nvPr/>
        </p:nvSpPr>
        <p:spPr>
          <a:xfrm>
            <a:off x="841248" y="3127248"/>
            <a:ext cx="44622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Room_Suite.xml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41248" y="3456432"/>
            <a:ext cx="44622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roomManagement_happy  ·  negative  ·  WithDDTAndExcelSheet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94360" y="3931920"/>
            <a:ext cx="4791456" cy="749808"/>
          </a:xfrm>
          <a:prstGeom prst="roundRect">
            <a:avLst>
              <a:gd name="adj" fmla="val 12195"/>
            </a:avLst>
          </a:prstGeom>
          <a:solidFill>
            <a:srgbClr val="F4F7FB"/>
          </a:solidFill>
          <a:effectLst>
            <a:outerShdw blurRad="63500" dist="25400" dir="2700000" algn="bl" rotWithShape="0">
              <a:srgbClr val="AAAAAA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4360" y="3931920"/>
            <a:ext cx="164592" cy="749808"/>
          </a:xfrm>
          <a:prstGeom prst="roundRect">
            <a:avLst>
              <a:gd name="adj" fmla="val 22222"/>
            </a:avLst>
          </a:prstGeom>
          <a:solidFill>
            <a:srgbClr val="C55A11"/>
          </a:solidFill>
        </p:spPr>
      </p:sp>
      <p:sp>
        <p:nvSpPr>
          <p:cNvPr id="19" name="Text 17"/>
          <p:cNvSpPr/>
          <p:nvPr/>
        </p:nvSpPr>
        <p:spPr>
          <a:xfrm>
            <a:off x="841248" y="3986784"/>
            <a:ext cx="44622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contactUs_Suite.xml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41248" y="4315968"/>
            <a:ext cx="44622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contactUs_happy  ·  negative  ·  WithDDTAndDataProvider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94360" y="4791456"/>
            <a:ext cx="4791456" cy="749808"/>
          </a:xfrm>
          <a:prstGeom prst="roundRect">
            <a:avLst>
              <a:gd name="adj" fmla="val 12195"/>
            </a:avLst>
          </a:prstGeom>
          <a:solidFill>
            <a:srgbClr val="F4F7FB"/>
          </a:solidFill>
          <a:effectLst>
            <a:outerShdw blurRad="63500" dist="25400" dir="2700000" algn="bl" rotWithShape="0">
              <a:srgbClr val="AAAAAA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94360" y="4791456"/>
            <a:ext cx="164592" cy="749808"/>
          </a:xfrm>
          <a:prstGeom prst="roundRect">
            <a:avLst>
              <a:gd name="adj" fmla="val 22222"/>
            </a:avLst>
          </a:prstGeom>
          <a:solidFill>
            <a:srgbClr val="1A6B3A"/>
          </a:solidFill>
        </p:spPr>
      </p:sp>
      <p:sp>
        <p:nvSpPr>
          <p:cNvPr id="23" name="Text 21"/>
          <p:cNvSpPr/>
          <p:nvPr/>
        </p:nvSpPr>
        <p:spPr>
          <a:xfrm>
            <a:off x="841248" y="4846320"/>
            <a:ext cx="44622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Booking_Suite.xml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1248" y="5175504"/>
            <a:ext cx="44622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booking_happy  ·  booking_negative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94360" y="5650992"/>
            <a:ext cx="4791456" cy="749808"/>
          </a:xfrm>
          <a:prstGeom prst="roundRect">
            <a:avLst>
              <a:gd name="adj" fmla="val 12195"/>
            </a:avLst>
          </a:prstGeom>
          <a:solidFill>
            <a:srgbClr val="F4F7FB"/>
          </a:solidFill>
          <a:effectLst>
            <a:outerShdw blurRad="63500" dist="25400" dir="2700000" algn="bl" rotWithShape="0">
              <a:srgbClr val="AAAAAA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4360" y="5650992"/>
            <a:ext cx="164592" cy="749808"/>
          </a:xfrm>
          <a:prstGeom prst="roundRect">
            <a:avLst>
              <a:gd name="adj" fmla="val 22222"/>
            </a:avLst>
          </a:prstGeom>
          <a:solidFill>
            <a:srgbClr val="1C4E80"/>
          </a:solidFill>
        </p:spPr>
      </p:sp>
      <p:sp>
        <p:nvSpPr>
          <p:cNvPr id="27" name="Text 25"/>
          <p:cNvSpPr/>
          <p:nvPr/>
        </p:nvSpPr>
        <p:spPr>
          <a:xfrm>
            <a:off x="841248" y="5705856"/>
            <a:ext cx="44622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Branding_Report_Suite.xml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41248" y="6035040"/>
            <a:ext cx="44622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branding_happy  ·  report_happy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852160" y="1600200"/>
            <a:ext cx="5879592" cy="50292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effectLst>
            <a:outerShdw blurRad="63500" dist="25400" dir="2700000" algn="bl" rotWithShape="0">
              <a:srgbClr val="AAAAAA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852160" y="1600200"/>
            <a:ext cx="5879592" cy="493776"/>
          </a:xfrm>
          <a:prstGeom prst="roundRect">
            <a:avLst>
              <a:gd name="adj" fmla="val 18519"/>
            </a:avLst>
          </a:prstGeom>
          <a:solidFill>
            <a:srgbClr val="028090"/>
          </a:solidFill>
        </p:spPr>
      </p:sp>
      <p:sp>
        <p:nvSpPr>
          <p:cNvPr id="31" name="Text 29"/>
          <p:cNvSpPr/>
          <p:nvPr/>
        </p:nvSpPr>
        <p:spPr>
          <a:xfrm>
            <a:off x="5961888" y="1636776"/>
            <a:ext cx="5660136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Execution Flow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989320" y="228600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E75B6"/>
          </a:solidFill>
        </p:spPr>
      </p:sp>
      <p:sp>
        <p:nvSpPr>
          <p:cNvPr id="33" name="Text 31"/>
          <p:cNvSpPr/>
          <p:nvPr/>
        </p:nvSpPr>
        <p:spPr>
          <a:xfrm>
            <a:off x="5989320" y="228600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0" y="2212848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TestNG reads the Suite XML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00800" y="2505456"/>
            <a:ext cx="5212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Identifies the test classes and their execution order.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989320" y="301752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028090"/>
          </a:solidFill>
        </p:spPr>
      </p:sp>
      <p:sp>
        <p:nvSpPr>
          <p:cNvPr id="37" name="Text 35"/>
          <p:cNvSpPr/>
          <p:nvPr/>
        </p:nvSpPr>
        <p:spPr>
          <a:xfrm>
            <a:off x="5989320" y="301752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00800" y="2944368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@BeforeTest  —  openWebsite()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00800" y="3236976"/>
            <a:ext cx="5212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Opens Chrome (set in browserSetup.properties), navigates to the base URL, maximizes the window.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989320" y="374904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1C4E80"/>
          </a:solidFill>
        </p:spPr>
      </p:sp>
      <p:sp>
        <p:nvSpPr>
          <p:cNvPr id="41" name="Text 39"/>
          <p:cNvSpPr/>
          <p:nvPr/>
        </p:nvSpPr>
        <p:spPr>
          <a:xfrm>
            <a:off x="5989320" y="374904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400800" y="3675888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 method executes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400800" y="3968496"/>
            <a:ext cx="5212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Creates page object instances → runs steps → interacts with the live website.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989320" y="448056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1A6B3A"/>
          </a:solidFill>
        </p:spPr>
      </p:sp>
      <p:sp>
        <p:nvSpPr>
          <p:cNvPr id="45" name="Text 43"/>
          <p:cNvSpPr/>
          <p:nvPr/>
        </p:nvSpPr>
        <p:spPr>
          <a:xfrm>
            <a:off x="5989320" y="448056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400800" y="4407408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Assert verifies the result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400800" y="4700016"/>
            <a:ext cx="5212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Expected == Actual → PASS.  Expected ≠ Actual → FAIL and execution stops for that method.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989320" y="521208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C55A11"/>
          </a:solidFill>
        </p:spPr>
      </p:sp>
      <p:sp>
        <p:nvSpPr>
          <p:cNvPr id="49" name="Text 47"/>
          <p:cNvSpPr/>
          <p:nvPr/>
        </p:nvSpPr>
        <p:spPr>
          <a:xfrm>
            <a:off x="5989320" y="521208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400800" y="5138928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@AfterMethod — Screenshot on FAIL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400800" y="5431536"/>
            <a:ext cx="5212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 any failure: captures and saves a screenshot to Screenshots/ using the test method name.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989320" y="594360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0A2342"/>
          </a:solidFill>
        </p:spPr>
      </p:sp>
      <p:sp>
        <p:nvSpPr>
          <p:cNvPr id="53" name="Text 51"/>
          <p:cNvSpPr/>
          <p:nvPr/>
        </p:nvSpPr>
        <p:spPr>
          <a:xfrm>
            <a:off x="5989320" y="594360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400800" y="5870448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@AfterClass  —  closeWebsite()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400800" y="6163056"/>
            <a:ext cx="5212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After all methods in the class complete, driver.quit() closes the browser.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342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1C4E80"/>
          </a:solidFill>
        </p:spPr>
      </p:sp>
      <p:sp>
        <p:nvSpPr>
          <p:cNvPr id="4" name="Shape 2"/>
          <p:cNvSpPr/>
          <p:nvPr/>
        </p:nvSpPr>
        <p:spPr>
          <a:xfrm>
            <a:off x="3657600" y="0"/>
            <a:ext cx="54864" cy="685800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5" name="Text 3"/>
          <p:cNvSpPr/>
          <p:nvPr/>
        </p:nvSpPr>
        <p:spPr>
          <a:xfrm>
            <a:off x="274320" y="1097280"/>
            <a:ext cx="320040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Project</a:t>
            </a:r>
            <a:endParaRPr lang="en-US" sz="3000" dirty="0"/>
          </a:p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Summary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977640" y="914400"/>
            <a:ext cx="7909560" cy="804672"/>
          </a:xfrm>
          <a:prstGeom prst="roundRect">
            <a:avLst>
              <a:gd name="adj" fmla="val 11364"/>
            </a:avLst>
          </a:prstGeom>
          <a:solidFill>
            <a:srgbClr val="112244"/>
          </a:solidFill>
          <a:effectLst>
            <a:outerShdw blurRad="63500" dist="25400" dir="2700000" algn="bl" rotWithShape="0">
              <a:srgbClr val="AAAAA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977640" y="914400"/>
            <a:ext cx="1005840" cy="804672"/>
          </a:xfrm>
          <a:prstGeom prst="roundRect">
            <a:avLst>
              <a:gd name="adj" fmla="val 9091"/>
            </a:avLst>
          </a:prstGeom>
          <a:solidFill>
            <a:srgbClr val="02C39A"/>
          </a:solidFill>
        </p:spPr>
      </p:sp>
      <p:sp>
        <p:nvSpPr>
          <p:cNvPr id="8" name="Text 6"/>
          <p:cNvSpPr/>
          <p:nvPr/>
        </p:nvSpPr>
        <p:spPr>
          <a:xfrm>
            <a:off x="3977640" y="1115568"/>
            <a:ext cx="10058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Website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102352" y="1097280"/>
            <a:ext cx="66294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E6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Hotel booking platform with Guest and Admin roles — auto-resets every 10 minutes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977640" y="1847088"/>
            <a:ext cx="7909560" cy="804672"/>
          </a:xfrm>
          <a:prstGeom prst="roundRect">
            <a:avLst>
              <a:gd name="adj" fmla="val 11364"/>
            </a:avLst>
          </a:prstGeom>
          <a:solidFill>
            <a:srgbClr val="112244"/>
          </a:solidFill>
          <a:effectLst>
            <a:outerShdw blurRad="63500" dist="25400" dir="2700000" algn="bl" rotWithShape="0">
              <a:srgbClr val="AAAAAA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977640" y="1847088"/>
            <a:ext cx="1005840" cy="804672"/>
          </a:xfrm>
          <a:prstGeom prst="roundRect">
            <a:avLst>
              <a:gd name="adj" fmla="val 9091"/>
            </a:avLst>
          </a:prstGeom>
          <a:solidFill>
            <a:srgbClr val="2E75B6"/>
          </a:solidFill>
        </p:spPr>
      </p:sp>
      <p:sp>
        <p:nvSpPr>
          <p:cNvPr id="12" name="Text 10"/>
          <p:cNvSpPr/>
          <p:nvPr/>
        </p:nvSpPr>
        <p:spPr>
          <a:xfrm>
            <a:off x="3977640" y="2048256"/>
            <a:ext cx="10058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Pattern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02352" y="2029968"/>
            <a:ext cx="66294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E6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Page Object Model — page interaction code is fully separated from test logic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977640" y="2779776"/>
            <a:ext cx="7909560" cy="804672"/>
          </a:xfrm>
          <a:prstGeom prst="roundRect">
            <a:avLst>
              <a:gd name="adj" fmla="val 11364"/>
            </a:avLst>
          </a:prstGeom>
          <a:solidFill>
            <a:srgbClr val="112244"/>
          </a:solidFill>
          <a:effectLst>
            <a:outerShdw blurRad="63500" dist="25400" dir="2700000" algn="bl" rotWithShape="0">
              <a:srgbClr val="AAAAA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977640" y="2779776"/>
            <a:ext cx="1005840" cy="804672"/>
          </a:xfrm>
          <a:prstGeom prst="roundRect">
            <a:avLst>
              <a:gd name="adj" fmla="val 9091"/>
            </a:avLst>
          </a:prstGeom>
          <a:solidFill>
            <a:srgbClr val="028090"/>
          </a:solidFill>
        </p:spPr>
      </p:sp>
      <p:sp>
        <p:nvSpPr>
          <p:cNvPr id="16" name="Text 14"/>
          <p:cNvSpPr/>
          <p:nvPr/>
        </p:nvSpPr>
        <p:spPr>
          <a:xfrm>
            <a:off x="3977640" y="2980944"/>
            <a:ext cx="10058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Pages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02352" y="2962656"/>
            <a:ext cx="66294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E6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 Page classes — each contains @FindBy locators and action methods for one page of the site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977640" y="3712464"/>
            <a:ext cx="7909560" cy="804672"/>
          </a:xfrm>
          <a:prstGeom prst="roundRect">
            <a:avLst>
              <a:gd name="adj" fmla="val 11364"/>
            </a:avLst>
          </a:prstGeom>
          <a:solidFill>
            <a:srgbClr val="112244"/>
          </a:solidFill>
          <a:effectLst>
            <a:outerShdw blurRad="63500" dist="25400" dir="2700000" algn="bl" rotWithShape="0">
              <a:srgbClr val="AAAAAA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977640" y="3712464"/>
            <a:ext cx="1005840" cy="804672"/>
          </a:xfrm>
          <a:prstGeom prst="roundRect">
            <a:avLst>
              <a:gd name="adj" fmla="val 9091"/>
            </a:avLst>
          </a:prstGeom>
          <a:solidFill>
            <a:srgbClr val="1A6B3A"/>
          </a:solidFill>
        </p:spPr>
      </p:sp>
      <p:sp>
        <p:nvSpPr>
          <p:cNvPr id="20" name="Text 18"/>
          <p:cNvSpPr/>
          <p:nvPr/>
        </p:nvSpPr>
        <p:spPr>
          <a:xfrm>
            <a:off x="3977640" y="3913632"/>
            <a:ext cx="10058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Tests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3895344"/>
            <a:ext cx="66294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E6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 Test classes across 6 modules — covering Happy Path, Negative, and Boundary Value scenarios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977640" y="4645152"/>
            <a:ext cx="7909560" cy="804672"/>
          </a:xfrm>
          <a:prstGeom prst="roundRect">
            <a:avLst>
              <a:gd name="adj" fmla="val 11364"/>
            </a:avLst>
          </a:prstGeom>
          <a:solidFill>
            <a:srgbClr val="112244"/>
          </a:solidFill>
          <a:effectLst>
            <a:outerShdw blurRad="63500" dist="25400" dir="2700000" algn="bl" rotWithShape="0">
              <a:srgbClr val="AAAAAA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977640" y="4645152"/>
            <a:ext cx="1005840" cy="804672"/>
          </a:xfrm>
          <a:prstGeom prst="roundRect">
            <a:avLst>
              <a:gd name="adj" fmla="val 9091"/>
            </a:avLst>
          </a:prstGeom>
          <a:solidFill>
            <a:srgbClr val="C55A11"/>
          </a:solidFill>
        </p:spPr>
      </p:sp>
      <p:sp>
        <p:nvSpPr>
          <p:cNvPr id="24" name="Text 22"/>
          <p:cNvSpPr/>
          <p:nvPr/>
        </p:nvSpPr>
        <p:spPr>
          <a:xfrm>
            <a:off x="3977640" y="4846320"/>
            <a:ext cx="10058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DDT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02352" y="4828032"/>
            <a:ext cx="66294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E6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data sources: @DataProvider (inline), .properties file, and Excel sheet via Apache POI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77640" y="5577840"/>
            <a:ext cx="7909560" cy="804672"/>
          </a:xfrm>
          <a:prstGeom prst="roundRect">
            <a:avLst>
              <a:gd name="adj" fmla="val 11364"/>
            </a:avLst>
          </a:prstGeom>
          <a:solidFill>
            <a:srgbClr val="112244"/>
          </a:solidFill>
          <a:effectLst>
            <a:outerShdw blurRad="63500" dist="25400" dir="2700000" algn="bl" rotWithShape="0">
              <a:srgbClr val="AAAAAA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977640" y="5577840"/>
            <a:ext cx="1005840" cy="804672"/>
          </a:xfrm>
          <a:prstGeom prst="roundRect">
            <a:avLst>
              <a:gd name="adj" fmla="val 9091"/>
            </a:avLst>
          </a:prstGeom>
          <a:solidFill>
            <a:srgbClr val="1C4E80"/>
          </a:solidFill>
        </p:spPr>
      </p:sp>
      <p:sp>
        <p:nvSpPr>
          <p:cNvPr id="28" name="Text 26"/>
          <p:cNvSpPr/>
          <p:nvPr/>
        </p:nvSpPr>
        <p:spPr>
          <a:xfrm>
            <a:off x="3977640" y="5779008"/>
            <a:ext cx="10058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On Failure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02352" y="5760720"/>
            <a:ext cx="66294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E6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Automatic screenshot saved to Screenshots/ + TestNG HTML report generated in test-output/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82880" y="5394960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82880" y="5989320"/>
            <a:ext cx="33832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DE6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Restful Booker Platform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DDE6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Automation Testing Project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7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457200"/>
            <a:ext cx="64008" cy="64008"/>
          </a:xfrm>
          <a:prstGeom prst="ellipse">
            <a:avLst/>
          </a:prstGeom>
          <a:solidFill>
            <a:srgbClr val="343B4E"/>
          </a:solidFill>
        </p:spPr>
      </p:sp>
      <p:sp>
        <p:nvSpPr>
          <p:cNvPr id="3" name="Shape 1"/>
          <p:cNvSpPr/>
          <p:nvPr/>
        </p:nvSpPr>
        <p:spPr>
          <a:xfrm>
            <a:off x="10652760" y="457200"/>
            <a:ext cx="64008" cy="64008"/>
          </a:xfrm>
          <a:prstGeom prst="ellipse">
            <a:avLst/>
          </a:prstGeom>
          <a:solidFill>
            <a:srgbClr val="343B4E"/>
          </a:solidFill>
        </p:spPr>
      </p:sp>
      <p:sp>
        <p:nvSpPr>
          <p:cNvPr id="4" name="Shape 2"/>
          <p:cNvSpPr/>
          <p:nvPr/>
        </p:nvSpPr>
        <p:spPr>
          <a:xfrm>
            <a:off x="10972800" y="457200"/>
            <a:ext cx="64008" cy="64008"/>
          </a:xfrm>
          <a:prstGeom prst="ellipse">
            <a:avLst/>
          </a:prstGeom>
          <a:solidFill>
            <a:srgbClr val="343B4E"/>
          </a:solidFill>
        </p:spPr>
      </p:sp>
      <p:sp>
        <p:nvSpPr>
          <p:cNvPr id="5" name="Shape 3"/>
          <p:cNvSpPr/>
          <p:nvPr/>
        </p:nvSpPr>
        <p:spPr>
          <a:xfrm>
            <a:off x="10332720" y="777240"/>
            <a:ext cx="64008" cy="64008"/>
          </a:xfrm>
          <a:prstGeom prst="ellipse">
            <a:avLst/>
          </a:prstGeom>
          <a:solidFill>
            <a:srgbClr val="343B4E"/>
          </a:solidFill>
        </p:spPr>
      </p:sp>
      <p:sp>
        <p:nvSpPr>
          <p:cNvPr id="6" name="Shape 4"/>
          <p:cNvSpPr/>
          <p:nvPr/>
        </p:nvSpPr>
        <p:spPr>
          <a:xfrm>
            <a:off x="10652760" y="777240"/>
            <a:ext cx="64008" cy="64008"/>
          </a:xfrm>
          <a:prstGeom prst="ellipse">
            <a:avLst/>
          </a:prstGeom>
          <a:solidFill>
            <a:srgbClr val="343B4E"/>
          </a:solidFill>
        </p:spPr>
      </p:sp>
      <p:sp>
        <p:nvSpPr>
          <p:cNvPr id="7" name="Shape 5"/>
          <p:cNvSpPr/>
          <p:nvPr/>
        </p:nvSpPr>
        <p:spPr>
          <a:xfrm>
            <a:off x="10972800" y="777240"/>
            <a:ext cx="64008" cy="64008"/>
          </a:xfrm>
          <a:prstGeom prst="ellipse">
            <a:avLst/>
          </a:prstGeom>
          <a:solidFill>
            <a:srgbClr val="343B4E"/>
          </a:solidFill>
        </p:spPr>
      </p:sp>
      <p:sp>
        <p:nvSpPr>
          <p:cNvPr id="8" name="Shape 6"/>
          <p:cNvSpPr/>
          <p:nvPr/>
        </p:nvSpPr>
        <p:spPr>
          <a:xfrm>
            <a:off x="822960" y="914400"/>
            <a:ext cx="777240" cy="777240"/>
          </a:xfrm>
          <a:prstGeom prst="ellipse">
            <a:avLst/>
          </a:prstGeom>
          <a:solidFill>
            <a:srgbClr val="FF6C37"/>
          </a:solidFill>
        </p:spPr>
      </p:sp>
      <p:pic>
        <p:nvPicPr>
          <p:cNvPr id="9" name="Image 0" descr="/home/claude/icons/sen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498" y="1100938"/>
            <a:ext cx="404165" cy="40416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187452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kern="0" spc="300" dirty="0">
                <a:solidFill>
                  <a:srgbClr val="FF6C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API TESTING PROJECT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7240" y="2240280"/>
            <a:ext cx="100584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4F5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Restful-Booker API</a:t>
            </a:r>
            <a:endParaRPr lang="en-US" sz="5200" dirty="0"/>
          </a:p>
        </p:txBody>
      </p:sp>
      <p:sp>
        <p:nvSpPr>
          <p:cNvPr id="12" name="Text 9"/>
          <p:cNvSpPr/>
          <p:nvPr/>
        </p:nvSpPr>
        <p:spPr>
          <a:xfrm>
            <a:off x="777240" y="3246120"/>
            <a:ext cx="10607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9A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خطة اختبار شاملة وتنفيذ فعلي عبر Postman &amp; Newman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822960" y="3977640"/>
            <a:ext cx="2926080" cy="0"/>
          </a:xfrm>
          <a:prstGeom prst="line">
            <a:avLst/>
          </a:prstGeom>
          <a:noFill/>
          <a:ln w="12700">
            <a:solidFill>
              <a:srgbClr val="343B4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4251960"/>
            <a:ext cx="3291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6B738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مُعد المشروع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22960" y="4544568"/>
            <a:ext cx="3291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4F5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Ibrahim Ahmed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343400" y="4251960"/>
            <a:ext cx="3291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6B738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النوع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343400" y="4544568"/>
            <a:ext cx="3291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4F5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API Testing — QA Portfolio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7863840" y="4251960"/>
            <a:ext cx="3291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6B738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التاريخ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863840" y="4544568"/>
            <a:ext cx="3291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4F5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يوليو 2026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48640" y="562356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1D2230"/>
          </a:solidFill>
        </p:spPr>
      </p:sp>
      <p:sp>
        <p:nvSpPr>
          <p:cNvPr id="21" name="Text 18"/>
          <p:cNvSpPr/>
          <p:nvPr/>
        </p:nvSpPr>
        <p:spPr>
          <a:xfrm>
            <a:off x="822960" y="5742432"/>
            <a:ext cx="21945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34D1B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90</a:t>
            </a:r>
            <a:endParaRPr lang="en-US" sz="3000" dirty="0"/>
          </a:p>
        </p:txBody>
      </p:sp>
      <p:sp>
        <p:nvSpPr>
          <p:cNvPr id="22" name="Text 19"/>
          <p:cNvSpPr/>
          <p:nvPr/>
        </p:nvSpPr>
        <p:spPr>
          <a:xfrm>
            <a:off x="822960" y="6245352"/>
            <a:ext cx="2194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kern="0" spc="100" dirty="0">
                <a:solidFill>
                  <a:srgbClr val="9A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Requests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3566160" y="5742432"/>
            <a:ext cx="21945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34D1B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</a:t>
            </a:r>
            <a:endParaRPr lang="en-US" sz="3000" dirty="0"/>
          </a:p>
        </p:txBody>
      </p:sp>
      <p:sp>
        <p:nvSpPr>
          <p:cNvPr id="24" name="Text 21"/>
          <p:cNvSpPr/>
          <p:nvPr/>
        </p:nvSpPr>
        <p:spPr>
          <a:xfrm>
            <a:off x="3566160" y="6245352"/>
            <a:ext cx="2194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kern="0" spc="100" dirty="0">
                <a:solidFill>
                  <a:srgbClr val="9A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Test Suites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309360" y="5742432"/>
            <a:ext cx="21945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34D1B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85</a:t>
            </a:r>
            <a:endParaRPr lang="en-US" sz="3000" dirty="0"/>
          </a:p>
        </p:txBody>
      </p:sp>
      <p:sp>
        <p:nvSpPr>
          <p:cNvPr id="26" name="Text 23"/>
          <p:cNvSpPr/>
          <p:nvPr/>
        </p:nvSpPr>
        <p:spPr>
          <a:xfrm>
            <a:off x="6309360" y="6245352"/>
            <a:ext cx="2194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kern="0" spc="100" dirty="0">
                <a:solidFill>
                  <a:srgbClr val="9A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Assertions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9052560" y="5742432"/>
            <a:ext cx="21945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3ECF8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</a:t>
            </a:r>
            <a:endParaRPr lang="en-US" sz="3000" dirty="0"/>
          </a:p>
        </p:txBody>
      </p:sp>
      <p:sp>
        <p:nvSpPr>
          <p:cNvPr id="28" name="Text 25"/>
          <p:cNvSpPr/>
          <p:nvPr/>
        </p:nvSpPr>
        <p:spPr>
          <a:xfrm>
            <a:off x="9052560" y="6245352"/>
            <a:ext cx="2194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kern="0" spc="100" dirty="0">
                <a:solidFill>
                  <a:srgbClr val="9A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Failures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48640" y="6528816"/>
            <a:ext cx="5486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38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Restful-Booker API — Test Project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1430000" y="6528816"/>
            <a:ext cx="457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38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7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F6C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F4F5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نظرة عامة على المشروع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5486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38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Restful-Booker API — Test Project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28816"/>
            <a:ext cx="457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38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6675120" cy="2103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 rtl="1">
              <a:lnSpc>
                <a:spcPct val="135000"/>
              </a:lnSpc>
              <a:buNone/>
            </a:pPr>
            <a:r>
              <a:rPr lang="en-US" sz="1450" dirty="0">
                <a:solidFill>
                  <a:srgbClr val="F4F5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Restful-Booker API هو تطبيق تجريبي لحجز غرف فندقية (عمليات CRUD كاملة)، مُصمَّم خصيصًا لتدريب مهندسي الـ QA على اختبار الـ APIs. يعتمد على نظام Authentication بسيط قائم على Token، وهو — بحسب توثيقه الرسمي — مُعَدّ عمدًا ليحتوي على أخطاء يتم اكتشافها أثناء الاختبار، وهو ما أثبتته نتائج هذا المشروع عمليًا (تفاصيل الأخطاء المكتشفة في الشرائح التالية).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3703320"/>
            <a:ext cx="6675120" cy="2514600"/>
          </a:xfrm>
          <a:prstGeom prst="roundRect">
            <a:avLst>
              <a:gd name="adj" fmla="val 3636"/>
            </a:avLst>
          </a:prstGeom>
          <a:solidFill>
            <a:srgbClr val="1D2230"/>
          </a:solidFill>
        </p:spPr>
      </p:sp>
      <p:sp>
        <p:nvSpPr>
          <p:cNvPr id="8" name="Text 6"/>
          <p:cNvSpPr/>
          <p:nvPr/>
        </p:nvSpPr>
        <p:spPr>
          <a:xfrm>
            <a:off x="822960" y="3886200"/>
            <a:ext cx="6126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FF6C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لماذا هذا المشروع؟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4315968"/>
            <a:ext cx="6126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9A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 بناء Regression Suite كامل وقابل لإعادة التشغيل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4718304"/>
            <a:ext cx="6126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9A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 تغطية Functional + Negative + Security + Boundary Testing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5120640"/>
            <a:ext cx="6126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9A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 دمج التنفيذ داخل CI/CD عبر GitHub Actions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5522976"/>
            <a:ext cx="6126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9A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 توثيق الأخطاء المكتشفة بشكل احترافي وقابل لإعادة الإنتاج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498080" y="1417320"/>
            <a:ext cx="4114800" cy="4800600"/>
          </a:xfrm>
          <a:prstGeom prst="roundRect">
            <a:avLst>
              <a:gd name="adj" fmla="val 2222"/>
            </a:avLst>
          </a:prstGeom>
          <a:solidFill>
            <a:srgbClr val="1D2230"/>
          </a:solidFill>
        </p:spPr>
      </p:sp>
      <p:sp>
        <p:nvSpPr>
          <p:cNvPr id="14" name="Shape 12"/>
          <p:cNvSpPr/>
          <p:nvPr/>
        </p:nvSpPr>
        <p:spPr>
          <a:xfrm>
            <a:off x="7772400" y="1691640"/>
            <a:ext cx="502920" cy="502920"/>
          </a:xfrm>
          <a:prstGeom prst="ellipse">
            <a:avLst/>
          </a:prstGeom>
          <a:solidFill>
            <a:srgbClr val="FF6C37"/>
          </a:solidFill>
        </p:spPr>
      </p:sp>
      <p:pic>
        <p:nvPicPr>
          <p:cNvPr id="15" name="Image 0" descr="/home/claude/icons/targe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93101" y="1812341"/>
            <a:ext cx="261518" cy="26151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412480" y="1783080"/>
            <a:ext cx="3017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4F5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Project Snapshot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772400" y="2286000"/>
            <a:ext cx="356616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50" dirty="0">
                <a:solidFill>
                  <a:srgbClr val="6B738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Base URL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7772400" y="2514600"/>
            <a:ext cx="35661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4F5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restful-booker.herokuapp.com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772400" y="2926080"/>
            <a:ext cx="356616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50" dirty="0">
                <a:solidFill>
                  <a:srgbClr val="6B738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Official Docs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7772400" y="3154680"/>
            <a:ext cx="35661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4F5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/apidoc/index.html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7772400" y="3566160"/>
            <a:ext cx="356616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50" dirty="0">
                <a:solidFill>
                  <a:srgbClr val="6B738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Source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7772400" y="3794760"/>
            <a:ext cx="35661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4F5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github.com/mwinteringham/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F4F5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restful-booker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7772400" y="4206240"/>
            <a:ext cx="356616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50" dirty="0">
                <a:solidFill>
                  <a:srgbClr val="6B738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Prepared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7772400" y="4434840"/>
            <a:ext cx="35661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4F5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July 2026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7772400" y="4846320"/>
            <a:ext cx="356616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50" dirty="0">
                <a:solidFill>
                  <a:srgbClr val="6B738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Auth Type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7772400" y="5074920"/>
            <a:ext cx="35661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4F5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Token-based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7772400" y="5486400"/>
            <a:ext cx="356616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50" dirty="0">
                <a:solidFill>
                  <a:srgbClr val="6B738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Reset Cycle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7772400" y="5715000"/>
            <a:ext cx="35661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4F5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Every 10 minutes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7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F6C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F4F5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أهداف الاختبار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5486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38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Restful-Booker API — Test Project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28816"/>
            <a:ext cx="457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38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3474720" cy="2148840"/>
          </a:xfrm>
          <a:prstGeom prst="roundRect">
            <a:avLst>
              <a:gd name="adj" fmla="val 4255"/>
            </a:avLst>
          </a:prstGeom>
          <a:solidFill>
            <a:srgbClr val="1D2230"/>
          </a:solidFill>
        </p:spPr>
      </p:sp>
      <p:sp>
        <p:nvSpPr>
          <p:cNvPr id="7" name="Shape 5"/>
          <p:cNvSpPr/>
          <p:nvPr/>
        </p:nvSpPr>
        <p:spPr>
          <a:xfrm>
            <a:off x="804672" y="1764792"/>
            <a:ext cx="548640" cy="548640"/>
          </a:xfrm>
          <a:prstGeom prst="ellipse">
            <a:avLst/>
          </a:prstGeom>
          <a:solidFill>
            <a:srgbClr val="FF6C37"/>
          </a:solidFill>
        </p:spPr>
      </p:sp>
      <p:pic>
        <p:nvPicPr>
          <p:cNvPr id="8" name="Image 0" descr="/home/claude/icons/che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346" y="1896466"/>
            <a:ext cx="285293" cy="28529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04672" y="2441448"/>
            <a:ext cx="296265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4F5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Functional Correctness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04672" y="2880360"/>
            <a:ext cx="2962656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التأكد أن كل Endpoint يعمل حسب السلوك المتوقع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43400" y="1508760"/>
            <a:ext cx="3474720" cy="2148840"/>
          </a:xfrm>
          <a:prstGeom prst="roundRect">
            <a:avLst>
              <a:gd name="adj" fmla="val 4255"/>
            </a:avLst>
          </a:prstGeom>
          <a:solidFill>
            <a:srgbClr val="1D2230"/>
          </a:solidFill>
        </p:spPr>
      </p:sp>
      <p:sp>
        <p:nvSpPr>
          <p:cNvPr id="12" name="Shape 9"/>
          <p:cNvSpPr/>
          <p:nvPr/>
        </p:nvSpPr>
        <p:spPr>
          <a:xfrm>
            <a:off x="4599432" y="1764792"/>
            <a:ext cx="548640" cy="548640"/>
          </a:xfrm>
          <a:prstGeom prst="ellipse">
            <a:avLst/>
          </a:prstGeom>
          <a:solidFill>
            <a:srgbClr val="34D1BF"/>
          </a:solidFill>
        </p:spPr>
      </p:sp>
      <p:pic>
        <p:nvPicPr>
          <p:cNvPr id="13" name="Image 1" descr="/home/claude/icons/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106" y="1896466"/>
            <a:ext cx="285293" cy="28529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99432" y="2441448"/>
            <a:ext cx="296265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4F5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Negative Testing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4599432" y="2880360"/>
            <a:ext cx="2962656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اكتشاف ثغرات الـ Validation والـ Error Handling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138160" y="1508760"/>
            <a:ext cx="3474720" cy="2148840"/>
          </a:xfrm>
          <a:prstGeom prst="roundRect">
            <a:avLst>
              <a:gd name="adj" fmla="val 4255"/>
            </a:avLst>
          </a:prstGeom>
          <a:solidFill>
            <a:srgbClr val="1D2230"/>
          </a:solidFill>
        </p:spPr>
      </p:sp>
      <p:sp>
        <p:nvSpPr>
          <p:cNvPr id="17" name="Shape 13"/>
          <p:cNvSpPr/>
          <p:nvPr/>
        </p:nvSpPr>
        <p:spPr>
          <a:xfrm>
            <a:off x="8394192" y="1764792"/>
            <a:ext cx="548640" cy="548640"/>
          </a:xfrm>
          <a:prstGeom prst="ellipse">
            <a:avLst/>
          </a:prstGeom>
          <a:solidFill>
            <a:srgbClr val="9B6BFF"/>
          </a:solidFill>
        </p:spPr>
      </p:sp>
      <p:pic>
        <p:nvPicPr>
          <p:cNvPr id="18" name="Image 2" descr="/home/claude/icons/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5866" y="1896466"/>
            <a:ext cx="285293" cy="28529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94192" y="2441448"/>
            <a:ext cx="296265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4F5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Authentication Coverage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8394192" y="2880360"/>
            <a:ext cx="2962656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التأكد أن Update / Delete محمية فعليًا بالـ Token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548640" y="3977640"/>
            <a:ext cx="3474720" cy="2148840"/>
          </a:xfrm>
          <a:prstGeom prst="roundRect">
            <a:avLst>
              <a:gd name="adj" fmla="val 4255"/>
            </a:avLst>
          </a:prstGeom>
          <a:solidFill>
            <a:srgbClr val="1D2230"/>
          </a:solidFill>
        </p:spPr>
      </p:sp>
      <p:sp>
        <p:nvSpPr>
          <p:cNvPr id="22" name="Shape 17"/>
          <p:cNvSpPr/>
          <p:nvPr/>
        </p:nvSpPr>
        <p:spPr>
          <a:xfrm>
            <a:off x="804672" y="4233672"/>
            <a:ext cx="548640" cy="548640"/>
          </a:xfrm>
          <a:prstGeom prst="ellipse">
            <a:avLst/>
          </a:prstGeom>
          <a:solidFill>
            <a:srgbClr val="FFC857"/>
          </a:solidFill>
        </p:spPr>
      </p:sp>
      <p:pic>
        <p:nvPicPr>
          <p:cNvPr id="23" name="Image 3" descr="/home/claude/icons/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346" y="4365346"/>
            <a:ext cx="285293" cy="28529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04672" y="4910328"/>
            <a:ext cx="296265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4F5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Boundary &amp; Edge Cases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804672" y="5349240"/>
            <a:ext cx="2962656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فحص Data Types، القيم الحدّية، والحالات الاستثنائية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4343400" y="3977640"/>
            <a:ext cx="3474720" cy="2148840"/>
          </a:xfrm>
          <a:prstGeom prst="roundRect">
            <a:avLst>
              <a:gd name="adj" fmla="val 4255"/>
            </a:avLst>
          </a:prstGeom>
          <a:solidFill>
            <a:srgbClr val="1D2230"/>
          </a:solidFill>
        </p:spPr>
      </p:sp>
      <p:sp>
        <p:nvSpPr>
          <p:cNvPr id="27" name="Shape 21"/>
          <p:cNvSpPr/>
          <p:nvPr/>
        </p:nvSpPr>
        <p:spPr>
          <a:xfrm>
            <a:off x="4599432" y="4233672"/>
            <a:ext cx="548640" cy="548640"/>
          </a:xfrm>
          <a:prstGeom prst="ellipse">
            <a:avLst/>
          </a:prstGeom>
          <a:solidFill>
            <a:srgbClr val="3ECF8E"/>
          </a:solidFill>
        </p:spPr>
      </p:sp>
      <p:pic>
        <p:nvPicPr>
          <p:cNvPr id="28" name="Image 4" descr="/home/claude/icons/gi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1106" y="4365346"/>
            <a:ext cx="285293" cy="285293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599432" y="4910328"/>
            <a:ext cx="296265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4F5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Reusable Regression Suite</a:t>
            </a:r>
            <a:endParaRPr lang="en-US" sz="1450" dirty="0"/>
          </a:p>
        </p:txBody>
      </p:sp>
      <p:sp>
        <p:nvSpPr>
          <p:cNvPr id="30" name="Text 23"/>
          <p:cNvSpPr/>
          <p:nvPr/>
        </p:nvSpPr>
        <p:spPr>
          <a:xfrm>
            <a:off x="4599432" y="5349240"/>
            <a:ext cx="2962656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بناء Suite قابلة لإعادة التشغيل يدويًا أو عبر CI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8138160" y="3977640"/>
            <a:ext cx="3474720" cy="2148840"/>
          </a:xfrm>
          <a:prstGeom prst="roundRect">
            <a:avLst>
              <a:gd name="adj" fmla="val 4255"/>
            </a:avLst>
          </a:prstGeom>
          <a:solidFill>
            <a:srgbClr val="1D2230"/>
          </a:solidFill>
        </p:spPr>
      </p:sp>
      <p:sp>
        <p:nvSpPr>
          <p:cNvPr id="32" name="Shape 25"/>
          <p:cNvSpPr/>
          <p:nvPr/>
        </p:nvSpPr>
        <p:spPr>
          <a:xfrm>
            <a:off x="8394192" y="4233672"/>
            <a:ext cx="548640" cy="548640"/>
          </a:xfrm>
          <a:prstGeom prst="ellipse">
            <a:avLst/>
          </a:prstGeom>
          <a:solidFill>
            <a:srgbClr val="FF5C5C"/>
          </a:solidFill>
        </p:spPr>
      </p:sp>
      <p:pic>
        <p:nvPicPr>
          <p:cNvPr id="33" name="Image 5" descr="/home/claude/icons/ale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5866" y="4365346"/>
            <a:ext cx="285293" cy="285293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394192" y="4910328"/>
            <a:ext cx="296265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4F5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Reproducible Bug Reports</a:t>
            </a:r>
            <a:endParaRPr lang="en-US" sz="1450" dirty="0"/>
          </a:p>
        </p:txBody>
      </p:sp>
      <p:sp>
        <p:nvSpPr>
          <p:cNvPr id="35" name="Text 27"/>
          <p:cNvSpPr/>
          <p:nvPr/>
        </p:nvSpPr>
        <p:spPr>
          <a:xfrm>
            <a:off x="8394192" y="5349240"/>
            <a:ext cx="2962656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توثيق أي Bug بشكل واضح وقابل لإعادة الإنتاج</a:t>
            </a:r>
            <a:endParaRPr lang="en-US" sz="11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7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F6C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F4F5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نطاق الاختبار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5486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38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Restful-Booker API — Test Project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28816"/>
            <a:ext cx="457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38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440680" cy="4709160"/>
          </a:xfrm>
          <a:prstGeom prst="roundRect">
            <a:avLst>
              <a:gd name="adj" fmla="val 1942"/>
            </a:avLst>
          </a:prstGeom>
          <a:solidFill>
            <a:srgbClr val="1D2230"/>
          </a:solidFill>
        </p:spPr>
      </p:sp>
      <p:sp>
        <p:nvSpPr>
          <p:cNvPr id="7" name="Shape 5"/>
          <p:cNvSpPr/>
          <p:nvPr/>
        </p:nvSpPr>
        <p:spPr>
          <a:xfrm>
            <a:off x="822960" y="1691640"/>
            <a:ext cx="502920" cy="502920"/>
          </a:xfrm>
          <a:prstGeom prst="ellipse">
            <a:avLst/>
          </a:prstGeom>
          <a:solidFill>
            <a:srgbClr val="3ECF8E"/>
          </a:solidFill>
        </p:spPr>
      </p:sp>
      <p:pic>
        <p:nvPicPr>
          <p:cNvPr id="8" name="Image 0" descr="/home/claude/icons/che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1812341"/>
            <a:ext cx="261518" cy="26151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755648"/>
            <a:ext cx="4389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4F5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In-Scope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868680" y="2386584"/>
            <a:ext cx="82296" cy="82296"/>
          </a:xfrm>
          <a:prstGeom prst="ellipse">
            <a:avLst/>
          </a:prstGeom>
          <a:solidFill>
            <a:srgbClr val="3ECF8E"/>
          </a:solidFill>
        </p:spPr>
      </p:sp>
      <p:sp>
        <p:nvSpPr>
          <p:cNvPr id="11" name="Text 8"/>
          <p:cNvSpPr/>
          <p:nvPr/>
        </p:nvSpPr>
        <p:spPr>
          <a:xfrm>
            <a:off x="1097280" y="2221992"/>
            <a:ext cx="475488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 rtl="1">
              <a:lnSpc>
                <a:spcPct val="130000"/>
              </a:lnSpc>
              <a:buNone/>
            </a:pPr>
            <a:r>
              <a:rPr lang="en-US" sz="1250" dirty="0">
                <a:solidFill>
                  <a:srgbClr val="9A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كل الـ Endpoints السبعة: Ping, Auth, CreateBooking,</a:t>
            </a:r>
            <a:endParaRPr lang="en-US" sz="1250" dirty="0"/>
          </a:p>
          <a:p>
            <a:pPr marL="0" indent="0" algn="r" rtl="1">
              <a:lnSpc>
                <a:spcPct val="130000"/>
              </a:lnSpc>
              <a:buNone/>
            </a:pPr>
            <a:r>
              <a:rPr lang="en-US" sz="1250" dirty="0">
                <a:solidFill>
                  <a:srgbClr val="9A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GetBookingIds, GetBooking, UpdateBooking (PUT),</a:t>
            </a:r>
            <a:endParaRPr lang="en-US" sz="1250" dirty="0"/>
          </a:p>
          <a:p>
            <a:pPr marL="0" indent="0" algn="r" rtl="1">
              <a:lnSpc>
                <a:spcPct val="130000"/>
              </a:lnSpc>
              <a:buNone/>
            </a:pPr>
            <a:r>
              <a:rPr lang="en-US" sz="1250" dirty="0">
                <a:solidFill>
                  <a:srgbClr val="9A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PartialUpdateBooking (PATCH), DeleteBooking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68680" y="3685032"/>
            <a:ext cx="82296" cy="82296"/>
          </a:xfrm>
          <a:prstGeom prst="ellipse">
            <a:avLst/>
          </a:prstGeom>
          <a:solidFill>
            <a:srgbClr val="3ECF8E"/>
          </a:solidFill>
        </p:spPr>
      </p:sp>
      <p:sp>
        <p:nvSpPr>
          <p:cNvPr id="13" name="Text 10"/>
          <p:cNvSpPr/>
          <p:nvPr/>
        </p:nvSpPr>
        <p:spPr>
          <a:xfrm>
            <a:off x="1097280" y="3520440"/>
            <a:ext cx="475488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 rtl="1">
              <a:lnSpc>
                <a:spcPct val="130000"/>
              </a:lnSpc>
              <a:buNone/>
            </a:pPr>
            <a:r>
              <a:rPr lang="en-US" sz="1250" dirty="0">
                <a:solidFill>
                  <a:srgbClr val="9A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Functional / Negative / Boundary / Security</a:t>
            </a:r>
            <a:endParaRPr lang="en-US" sz="1250" dirty="0"/>
          </a:p>
          <a:p>
            <a:pPr marL="0" indent="0" algn="r" rtl="1">
              <a:lnSpc>
                <a:spcPct val="130000"/>
              </a:lnSpc>
              <a:buNone/>
            </a:pPr>
            <a:r>
              <a:rPr lang="en-US" sz="1250" dirty="0">
                <a:solidFill>
                  <a:srgbClr val="9A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(Auth Bypass, Injection) / Schema Validation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68680" y="4983480"/>
            <a:ext cx="82296" cy="82296"/>
          </a:xfrm>
          <a:prstGeom prst="ellipse">
            <a:avLst/>
          </a:prstGeom>
          <a:solidFill>
            <a:srgbClr val="3ECF8E"/>
          </a:solidFill>
        </p:spPr>
      </p:sp>
      <p:sp>
        <p:nvSpPr>
          <p:cNvPr id="15" name="Text 12"/>
          <p:cNvSpPr/>
          <p:nvPr/>
        </p:nvSpPr>
        <p:spPr>
          <a:xfrm>
            <a:off x="1097280" y="4818888"/>
            <a:ext cx="475488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 rtl="1">
              <a:lnSpc>
                <a:spcPct val="130000"/>
              </a:lnSpc>
              <a:buNone/>
            </a:pPr>
            <a:r>
              <a:rPr lang="en-US" sz="1250" dirty="0">
                <a:solidFill>
                  <a:srgbClr val="9A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اختبار استجابة JSON، مع XML كخيار إضافي</a:t>
            </a:r>
            <a:endParaRPr lang="en-US" sz="1250" dirty="0"/>
          </a:p>
          <a:p>
            <a:pPr marL="0" indent="0" algn="r" rtl="1">
              <a:lnSpc>
                <a:spcPct val="130000"/>
              </a:lnSpc>
              <a:buNone/>
            </a:pPr>
            <a:r>
              <a:rPr lang="en-US" sz="1250" dirty="0">
                <a:solidFill>
                  <a:srgbClr val="9A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مدعوم عبر Content-Type / Accept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217920" y="1463040"/>
            <a:ext cx="5422392" cy="4709160"/>
          </a:xfrm>
          <a:prstGeom prst="roundRect">
            <a:avLst>
              <a:gd name="adj" fmla="val 1942"/>
            </a:avLst>
          </a:prstGeom>
          <a:solidFill>
            <a:srgbClr val="1D2230"/>
          </a:solidFill>
        </p:spPr>
      </p:sp>
      <p:sp>
        <p:nvSpPr>
          <p:cNvPr id="17" name="Shape 14"/>
          <p:cNvSpPr/>
          <p:nvPr/>
        </p:nvSpPr>
        <p:spPr>
          <a:xfrm>
            <a:off x="6492240" y="1691640"/>
            <a:ext cx="502920" cy="502920"/>
          </a:xfrm>
          <a:prstGeom prst="ellipse">
            <a:avLst/>
          </a:prstGeom>
          <a:solidFill>
            <a:srgbClr val="FF5C5C"/>
          </a:solidFill>
        </p:spPr>
      </p:sp>
      <p:pic>
        <p:nvPicPr>
          <p:cNvPr id="18" name="Image 1" descr="/home/claude/icons/x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2941" y="1812341"/>
            <a:ext cx="261518" cy="26151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406640" y="1755648"/>
            <a:ext cx="4114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4F5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Out-of-Scope</a:t>
            </a:r>
            <a:endParaRPr lang="en-US" sz="1700" dirty="0"/>
          </a:p>
        </p:txBody>
      </p:sp>
      <p:sp>
        <p:nvSpPr>
          <p:cNvPr id="20" name="Shape 16"/>
          <p:cNvSpPr/>
          <p:nvPr/>
        </p:nvSpPr>
        <p:spPr>
          <a:xfrm>
            <a:off x="6537960" y="2386584"/>
            <a:ext cx="82296" cy="82296"/>
          </a:xfrm>
          <a:prstGeom prst="ellipse">
            <a:avLst/>
          </a:prstGeom>
          <a:solidFill>
            <a:srgbClr val="FF5C5C"/>
          </a:solidFill>
        </p:spPr>
      </p:sp>
      <p:sp>
        <p:nvSpPr>
          <p:cNvPr id="21" name="Text 17"/>
          <p:cNvSpPr/>
          <p:nvPr/>
        </p:nvSpPr>
        <p:spPr>
          <a:xfrm>
            <a:off x="6766560" y="2221992"/>
            <a:ext cx="470916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 rtl="1">
              <a:lnSpc>
                <a:spcPct val="130000"/>
              </a:lnSpc>
              <a:buNone/>
            </a:pPr>
            <a:r>
              <a:rPr lang="en-US" sz="1250" dirty="0">
                <a:solidFill>
                  <a:srgbClr val="9A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Load / Stress Testing بأحمال حقيقية</a:t>
            </a:r>
            <a:endParaRPr lang="en-US" sz="1250" dirty="0"/>
          </a:p>
          <a:p>
            <a:pPr marL="0" indent="0" algn="r" rtl="1">
              <a:lnSpc>
                <a:spcPct val="130000"/>
              </a:lnSpc>
              <a:buNone/>
            </a:pPr>
            <a:r>
              <a:rPr lang="en-US" sz="1250" dirty="0">
                <a:solidFill>
                  <a:srgbClr val="9A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(سيرفر Heroku مجاني — غير مناسب لحمل جاد)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6537960" y="3685032"/>
            <a:ext cx="82296" cy="82296"/>
          </a:xfrm>
          <a:prstGeom prst="ellipse">
            <a:avLst/>
          </a:prstGeom>
          <a:solidFill>
            <a:srgbClr val="FF5C5C"/>
          </a:solidFill>
        </p:spPr>
      </p:sp>
      <p:sp>
        <p:nvSpPr>
          <p:cNvPr id="23" name="Text 19"/>
          <p:cNvSpPr/>
          <p:nvPr/>
        </p:nvSpPr>
        <p:spPr>
          <a:xfrm>
            <a:off x="6766560" y="3520440"/>
            <a:ext cx="470916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 rtl="1">
              <a:lnSpc>
                <a:spcPct val="130000"/>
              </a:lnSpc>
              <a:buNone/>
            </a:pPr>
            <a:r>
              <a:rPr lang="en-US" sz="1250" dirty="0">
                <a:solidFill>
                  <a:srgbClr val="9A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اختبار أي واجهة UI — لا يوجد Frontend،</a:t>
            </a:r>
            <a:endParaRPr lang="en-US" sz="1250" dirty="0"/>
          </a:p>
          <a:p>
            <a:pPr marL="0" indent="0" algn="r" rtl="1">
              <a:lnSpc>
                <a:spcPct val="130000"/>
              </a:lnSpc>
              <a:buNone/>
            </a:pPr>
            <a:r>
              <a:rPr lang="en-US" sz="1250" dirty="0">
                <a:solidFill>
                  <a:srgbClr val="9A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اختبار الـ API فقط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6537960" y="4983480"/>
            <a:ext cx="82296" cy="82296"/>
          </a:xfrm>
          <a:prstGeom prst="ellipse">
            <a:avLst/>
          </a:prstGeom>
          <a:solidFill>
            <a:srgbClr val="FF5C5C"/>
          </a:solidFill>
        </p:spPr>
      </p:sp>
      <p:sp>
        <p:nvSpPr>
          <p:cNvPr id="25" name="Text 21"/>
          <p:cNvSpPr/>
          <p:nvPr/>
        </p:nvSpPr>
        <p:spPr>
          <a:xfrm>
            <a:off x="6766560" y="4818888"/>
            <a:ext cx="470916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 rtl="1">
              <a:lnSpc>
                <a:spcPct val="130000"/>
              </a:lnSpc>
              <a:buNone/>
            </a:pPr>
            <a:r>
              <a:rPr lang="en-US" sz="1250" dirty="0">
                <a:solidFill>
                  <a:srgbClr val="9A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Penetration Testing متقدم — الاكتفاء بفحوصات</a:t>
            </a:r>
            <a:endParaRPr lang="en-US" sz="1250" dirty="0"/>
          </a:p>
          <a:p>
            <a:pPr marL="0" indent="0" algn="r" rtl="1">
              <a:lnSpc>
                <a:spcPct val="130000"/>
              </a:lnSpc>
              <a:buNone/>
            </a:pPr>
            <a:r>
              <a:rPr lang="en-US" sz="1250" dirty="0">
                <a:solidFill>
                  <a:srgbClr val="9A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أمان أساسية: Injection وAuth Bypass</a:t>
            </a:r>
            <a:endParaRPr lang="en-US" sz="12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7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F6C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SYSTEM UNDER TEST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F4F5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الـ Endpoints تحت الاختبار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5486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38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Restful-Booker API — Test Project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28816"/>
            <a:ext cx="457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38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548640" y="1463040"/>
          <a:ext cx="11064240" cy="4114800"/>
        </p:xfrm>
        <a:graphic>
          <a:graphicData uri="http://schemas.openxmlformats.org/drawingml/2006/table">
            <a:tbl>
              <a:tblPr/>
              <a:tblGrid>
                <a:gridCol w="1234440"/>
                <a:gridCol w="2148840"/>
                <a:gridCol w="6309360"/>
                <a:gridCol w="1371600"/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6B7387"/>
                          </a:solidFill>
                        </a:rPr>
                        <a:t>Method</a:t>
                      </a:r>
                      <a:endParaRPr lang="en-US" sz="11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91D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6B7387"/>
                          </a:solidFill>
                        </a:rPr>
                        <a:t>Endpoint</a:t>
                      </a:r>
                      <a:endParaRPr lang="en-US" sz="11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91D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100" b="1" dirty="0">
                          <a:solidFill>
                            <a:srgbClr val="6B7387"/>
                          </a:solidFill>
                        </a:rPr>
                        <a:t>الوصف</a:t>
                      </a:r>
                      <a:endParaRPr lang="en-US" sz="11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91D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B7387"/>
                          </a:solidFill>
                        </a:rPr>
                        <a:t>Auth؟</a:t>
                      </a:r>
                      <a:endParaRPr lang="en-US" sz="11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91D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34D1BF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GET</a:t>
                      </a:r>
                      <a:endParaRPr lang="en-US" sz="125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D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4F5F8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/ping</a:t>
                      </a:r>
                      <a:endParaRPr lang="en-US" sz="125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D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200" dirty="0">
                          <a:solidFill>
                            <a:srgbClr val="9AA3B8"/>
                          </a:solidFill>
                        </a:rPr>
                        <a:t>Health Check</a:t>
                      </a:r>
                      <a:endParaRPr lang="en-US" sz="12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D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200" dirty="0">
                          <a:solidFill>
                            <a:srgbClr val="6B7387"/>
                          </a:solidFill>
                        </a:rPr>
                        <a:t>لا</a:t>
                      </a:r>
                      <a:endParaRPr lang="en-US" sz="12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D22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6C37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POST</a:t>
                      </a:r>
                      <a:endParaRPr lang="en-US" sz="125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4F5F8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/auth</a:t>
                      </a:r>
                      <a:endParaRPr lang="en-US" sz="125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200" dirty="0">
                          <a:solidFill>
                            <a:srgbClr val="9AA3B8"/>
                          </a:solidFill>
                        </a:rPr>
                        <a:t>إنشاء Token للدخول</a:t>
                      </a:r>
                      <a:endParaRPr lang="en-US" sz="12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200" dirty="0">
                          <a:solidFill>
                            <a:srgbClr val="6B7387"/>
                          </a:solidFill>
                        </a:rPr>
                        <a:t>لا</a:t>
                      </a:r>
                      <a:endParaRPr lang="en-US" sz="12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F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6C37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POST</a:t>
                      </a:r>
                      <a:endParaRPr lang="en-US" sz="125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D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4F5F8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/booking</a:t>
                      </a:r>
                      <a:endParaRPr lang="en-US" sz="125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D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200" dirty="0">
                          <a:solidFill>
                            <a:srgbClr val="9AA3B8"/>
                          </a:solidFill>
                        </a:rPr>
                        <a:t>إنشاء حجز جديد</a:t>
                      </a:r>
                      <a:endParaRPr lang="en-US" sz="12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D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200" dirty="0">
                          <a:solidFill>
                            <a:srgbClr val="6B7387"/>
                          </a:solidFill>
                        </a:rPr>
                        <a:t>لا</a:t>
                      </a:r>
                      <a:endParaRPr lang="en-US" sz="12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D22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34D1BF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GET</a:t>
                      </a:r>
                      <a:endParaRPr lang="en-US" sz="125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4F5F8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/booking</a:t>
                      </a:r>
                      <a:endParaRPr lang="en-US" sz="125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200" dirty="0">
                          <a:solidFill>
                            <a:srgbClr val="9AA3B8"/>
                          </a:solidFill>
                        </a:rPr>
                        <a:t>إرجاع IDs (فلاتر: firstname, lastname, checkin, checkout)</a:t>
                      </a:r>
                      <a:endParaRPr lang="en-US" sz="12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200" dirty="0">
                          <a:solidFill>
                            <a:srgbClr val="6B7387"/>
                          </a:solidFill>
                        </a:rPr>
                        <a:t>لا</a:t>
                      </a:r>
                      <a:endParaRPr lang="en-US" sz="12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F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34D1BF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GET</a:t>
                      </a:r>
                      <a:endParaRPr lang="en-US" sz="125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D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4F5F8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/booking/{id}</a:t>
                      </a:r>
                      <a:endParaRPr lang="en-US" sz="125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D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200" dirty="0">
                          <a:solidFill>
                            <a:srgbClr val="9AA3B8"/>
                          </a:solidFill>
                        </a:rPr>
                        <a:t>إرجاع تفاصيل حجز معيّن</a:t>
                      </a:r>
                      <a:endParaRPr lang="en-US" sz="12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D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200" dirty="0">
                          <a:solidFill>
                            <a:srgbClr val="6B7387"/>
                          </a:solidFill>
                        </a:rPr>
                        <a:t>لا</a:t>
                      </a:r>
                      <a:endParaRPr lang="en-US" sz="12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D22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9B6BFF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PUT</a:t>
                      </a:r>
                      <a:endParaRPr lang="en-US" sz="125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4F5F8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/booking/{id}</a:t>
                      </a:r>
                      <a:endParaRPr lang="en-US" sz="125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200" dirty="0">
                          <a:solidFill>
                            <a:srgbClr val="9AA3B8"/>
                          </a:solidFill>
                        </a:rPr>
                        <a:t>تعديل كامل لحجز موجود</a:t>
                      </a:r>
                      <a:endParaRPr lang="en-US" sz="12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200" b="1" dirty="0">
                          <a:solidFill>
                            <a:srgbClr val="FFC857"/>
                          </a:solidFill>
                        </a:rPr>
                        <a:t>نعم</a:t>
                      </a:r>
                      <a:endParaRPr lang="en-US" sz="12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F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C857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PATCH</a:t>
                      </a:r>
                      <a:endParaRPr lang="en-US" sz="125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D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4F5F8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/booking/{id}</a:t>
                      </a:r>
                      <a:endParaRPr lang="en-US" sz="125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D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200" dirty="0">
                          <a:solidFill>
                            <a:srgbClr val="9AA3B8"/>
                          </a:solidFill>
                        </a:rPr>
                        <a:t>تعديل جزئي لحجز موجود</a:t>
                      </a:r>
                      <a:endParaRPr lang="en-US" sz="12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D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200" b="1" dirty="0">
                          <a:solidFill>
                            <a:srgbClr val="FFC857"/>
                          </a:solidFill>
                        </a:rPr>
                        <a:t>نعم</a:t>
                      </a:r>
                      <a:endParaRPr lang="en-US" sz="12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D22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5C5C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DELETE</a:t>
                      </a:r>
                      <a:endParaRPr lang="en-US" sz="125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4F5F8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/booking/{id}</a:t>
                      </a:r>
                      <a:endParaRPr lang="en-US" sz="125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200" dirty="0">
                          <a:solidFill>
                            <a:srgbClr val="9AA3B8"/>
                          </a:solidFill>
                        </a:rPr>
                        <a:t>حذف حجز</a:t>
                      </a:r>
                      <a:endParaRPr lang="en-US" sz="12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200" b="1" dirty="0">
                          <a:solidFill>
                            <a:srgbClr val="FFC857"/>
                          </a:solidFill>
                        </a:rPr>
                        <a:t>نعم</a:t>
                      </a:r>
                      <a:endParaRPr lang="en-US" sz="12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F2B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50" i="1" dirty="0">
                <a:solidFill>
                  <a:srgbClr val="6B738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آلية الـ Authentication: POST /auth بـ {username, password} يُرجع Token — يُستخدم عبر Cookie: token={{token}} أو Authorization: Basic base64(username:password)</a:t>
            </a:r>
            <a:endParaRPr lang="en-US" sz="11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7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F6C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TEST STRATEGY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F4F5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استراتيجية الاختبار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5486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38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Restful-Booker API — Test Project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28816"/>
            <a:ext cx="457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38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2574036" cy="2148840"/>
          </a:xfrm>
          <a:prstGeom prst="roundRect">
            <a:avLst>
              <a:gd name="adj" fmla="val 4255"/>
            </a:avLst>
          </a:prstGeom>
          <a:solidFill>
            <a:srgbClr val="1D2230"/>
          </a:solidFill>
        </p:spPr>
      </p:sp>
      <p:sp>
        <p:nvSpPr>
          <p:cNvPr id="7" name="Shape 5"/>
          <p:cNvSpPr/>
          <p:nvPr/>
        </p:nvSpPr>
        <p:spPr>
          <a:xfrm>
            <a:off x="749808" y="1682496"/>
            <a:ext cx="457200" cy="457200"/>
          </a:xfrm>
          <a:prstGeom prst="ellipse">
            <a:avLst/>
          </a:prstGeom>
          <a:solidFill>
            <a:srgbClr val="3ECF8E"/>
          </a:solidFill>
        </p:spPr>
      </p:sp>
      <p:pic>
        <p:nvPicPr>
          <p:cNvPr id="8" name="Image 0" descr="/home/claude/icons/che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792224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2267712"/>
            <a:ext cx="21717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4F5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Functional (Positive)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49808" y="2798064"/>
            <a:ext cx="217170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9A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التأكد إن كل Endpoint بيرجع النتيجة الصح مع Input سليم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378708" y="1481328"/>
            <a:ext cx="2574036" cy="2148840"/>
          </a:xfrm>
          <a:prstGeom prst="roundRect">
            <a:avLst>
              <a:gd name="adj" fmla="val 4255"/>
            </a:avLst>
          </a:prstGeom>
          <a:solidFill>
            <a:srgbClr val="1D2230"/>
          </a:solidFill>
        </p:spPr>
      </p:sp>
      <p:sp>
        <p:nvSpPr>
          <p:cNvPr id="12" name="Shape 9"/>
          <p:cNvSpPr/>
          <p:nvPr/>
        </p:nvSpPr>
        <p:spPr>
          <a:xfrm>
            <a:off x="3579876" y="1682496"/>
            <a:ext cx="457200" cy="457200"/>
          </a:xfrm>
          <a:prstGeom prst="ellipse">
            <a:avLst/>
          </a:prstGeom>
          <a:solidFill>
            <a:srgbClr val="FF5C5C"/>
          </a:solidFill>
        </p:spPr>
      </p:sp>
      <p:pic>
        <p:nvPicPr>
          <p:cNvPr id="13" name="Image 1" descr="/home/claude/icons/x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9604" y="1792224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79876" y="2267712"/>
            <a:ext cx="21717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4F5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Negative Testing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579876" y="2798064"/>
            <a:ext cx="217170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9A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إدخال بيانات ناقصة أو غلط ومراقبة رد فعل الـ API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208776" y="1481328"/>
            <a:ext cx="2574036" cy="2148840"/>
          </a:xfrm>
          <a:prstGeom prst="roundRect">
            <a:avLst>
              <a:gd name="adj" fmla="val 4255"/>
            </a:avLst>
          </a:prstGeom>
          <a:solidFill>
            <a:srgbClr val="1D2230"/>
          </a:solidFill>
        </p:spPr>
      </p:sp>
      <p:sp>
        <p:nvSpPr>
          <p:cNvPr id="17" name="Shape 13"/>
          <p:cNvSpPr/>
          <p:nvPr/>
        </p:nvSpPr>
        <p:spPr>
          <a:xfrm>
            <a:off x="6409944" y="1682496"/>
            <a:ext cx="457200" cy="457200"/>
          </a:xfrm>
          <a:prstGeom prst="ellipse">
            <a:avLst/>
          </a:prstGeom>
          <a:solidFill>
            <a:srgbClr val="FFC857"/>
          </a:solidFill>
        </p:spPr>
      </p:sp>
      <p:pic>
        <p:nvPicPr>
          <p:cNvPr id="18" name="Image 2" descr="/home/claude/icons/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672" y="1792224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09944" y="2267712"/>
            <a:ext cx="21717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4F5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Boundary Value Analysis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409944" y="2798064"/>
            <a:ext cx="217170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9A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أرقام سالبة، صفر، قيم كبيرة جدًا، Strings طويلة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9038844" y="1481328"/>
            <a:ext cx="2574036" cy="2148840"/>
          </a:xfrm>
          <a:prstGeom prst="roundRect">
            <a:avLst>
              <a:gd name="adj" fmla="val 4255"/>
            </a:avLst>
          </a:prstGeom>
          <a:solidFill>
            <a:srgbClr val="1D2230"/>
          </a:solidFill>
        </p:spPr>
      </p:sp>
      <p:sp>
        <p:nvSpPr>
          <p:cNvPr id="22" name="Shape 17"/>
          <p:cNvSpPr/>
          <p:nvPr/>
        </p:nvSpPr>
        <p:spPr>
          <a:xfrm>
            <a:off x="9240012" y="1682496"/>
            <a:ext cx="457200" cy="457200"/>
          </a:xfrm>
          <a:prstGeom prst="ellipse">
            <a:avLst/>
          </a:prstGeom>
          <a:solidFill>
            <a:srgbClr val="34D1BF"/>
          </a:solidFill>
        </p:spPr>
      </p:sp>
      <p:pic>
        <p:nvPicPr>
          <p:cNvPr id="23" name="Image 3" descr="/home/claude/icons/co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9740" y="1792224"/>
            <a:ext cx="237744" cy="23774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240012" y="2267712"/>
            <a:ext cx="21717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4F5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Schema / Data Type Validation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9240012" y="2798064"/>
            <a:ext cx="217170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9A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التأكد من نوع كل حقل في الـ Response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548640" y="3904488"/>
            <a:ext cx="2574036" cy="2148840"/>
          </a:xfrm>
          <a:prstGeom prst="roundRect">
            <a:avLst>
              <a:gd name="adj" fmla="val 4255"/>
            </a:avLst>
          </a:prstGeom>
          <a:solidFill>
            <a:srgbClr val="1D2230"/>
          </a:solidFill>
        </p:spPr>
      </p:sp>
      <p:sp>
        <p:nvSpPr>
          <p:cNvPr id="27" name="Shape 21"/>
          <p:cNvSpPr/>
          <p:nvPr/>
        </p:nvSpPr>
        <p:spPr>
          <a:xfrm>
            <a:off x="749808" y="4105656"/>
            <a:ext cx="457200" cy="457200"/>
          </a:xfrm>
          <a:prstGeom prst="ellipse">
            <a:avLst/>
          </a:prstGeom>
          <a:solidFill>
            <a:srgbClr val="FF6C37"/>
          </a:solidFill>
        </p:spPr>
      </p:sp>
      <p:pic>
        <p:nvPicPr>
          <p:cNvPr id="28" name="Image 4" descr="/home/claude/icons/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4215384"/>
            <a:ext cx="237744" cy="23774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49808" y="4690872"/>
            <a:ext cx="21717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4F5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Security Testing (Basic)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749808" y="5221224"/>
            <a:ext cx="217170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9A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الوصول بدون Token أو بـ Token غلط، وحقن SQL/Script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3378708" y="3904488"/>
            <a:ext cx="2574036" cy="2148840"/>
          </a:xfrm>
          <a:prstGeom prst="roundRect">
            <a:avLst>
              <a:gd name="adj" fmla="val 4255"/>
            </a:avLst>
          </a:prstGeom>
          <a:solidFill>
            <a:srgbClr val="1D2230"/>
          </a:solidFill>
        </p:spPr>
      </p:sp>
      <p:sp>
        <p:nvSpPr>
          <p:cNvPr id="32" name="Shape 25"/>
          <p:cNvSpPr/>
          <p:nvPr/>
        </p:nvSpPr>
        <p:spPr>
          <a:xfrm>
            <a:off x="3579876" y="4105656"/>
            <a:ext cx="457200" cy="457200"/>
          </a:xfrm>
          <a:prstGeom prst="ellipse">
            <a:avLst/>
          </a:prstGeom>
          <a:solidFill>
            <a:srgbClr val="9B6BFF"/>
          </a:solidFill>
        </p:spPr>
      </p:sp>
      <p:pic>
        <p:nvPicPr>
          <p:cNvPr id="33" name="Image 5" descr="/home/claude/icons/activit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9604" y="4215384"/>
            <a:ext cx="237744" cy="23774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3579876" y="4690872"/>
            <a:ext cx="21717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4F5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Status Code Verification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3579876" y="5221224"/>
            <a:ext cx="217170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9A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كل Response لازم يرجع Status Code مطابق للمتوقع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6208776" y="3904488"/>
            <a:ext cx="2574036" cy="2148840"/>
          </a:xfrm>
          <a:prstGeom prst="roundRect">
            <a:avLst>
              <a:gd name="adj" fmla="val 4255"/>
            </a:avLst>
          </a:prstGeom>
          <a:solidFill>
            <a:srgbClr val="1D2230"/>
          </a:solidFill>
        </p:spPr>
      </p:sp>
      <p:sp>
        <p:nvSpPr>
          <p:cNvPr id="37" name="Shape 29"/>
          <p:cNvSpPr/>
          <p:nvPr/>
        </p:nvSpPr>
        <p:spPr>
          <a:xfrm>
            <a:off x="6409944" y="4105656"/>
            <a:ext cx="457200" cy="457200"/>
          </a:xfrm>
          <a:prstGeom prst="ellipse">
            <a:avLst/>
          </a:prstGeom>
          <a:solidFill>
            <a:srgbClr val="34D1BF"/>
          </a:solidFill>
        </p:spPr>
      </p:sp>
      <p:pic>
        <p:nvPicPr>
          <p:cNvPr id="38" name="Image 6" descr="/home/claude/icons/gi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9672" y="4215384"/>
            <a:ext cx="237744" cy="237744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6409944" y="4690872"/>
            <a:ext cx="21717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4F5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End-to-End Scenarios</a:t>
            </a:r>
            <a:endParaRPr lang="en-US" sz="1200" dirty="0"/>
          </a:p>
        </p:txBody>
      </p:sp>
      <p:sp>
        <p:nvSpPr>
          <p:cNvPr id="40" name="Text 31"/>
          <p:cNvSpPr/>
          <p:nvPr/>
        </p:nvSpPr>
        <p:spPr>
          <a:xfrm>
            <a:off x="6409944" y="5221224"/>
            <a:ext cx="217170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9A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سيناريو كامل: Auth → Create → Get → Update → Patch → Delete</a:t>
            </a:r>
            <a:endParaRPr lang="en-US" sz="1000" dirty="0"/>
          </a:p>
        </p:txBody>
      </p:sp>
      <p:sp>
        <p:nvSpPr>
          <p:cNvPr id="41" name="Shape 32"/>
          <p:cNvSpPr/>
          <p:nvPr/>
        </p:nvSpPr>
        <p:spPr>
          <a:xfrm>
            <a:off x="9038844" y="3904488"/>
            <a:ext cx="2574036" cy="2148840"/>
          </a:xfrm>
          <a:prstGeom prst="roundRect">
            <a:avLst>
              <a:gd name="adj" fmla="val 4255"/>
            </a:avLst>
          </a:prstGeom>
          <a:solidFill>
            <a:srgbClr val="1D2230"/>
          </a:solidFill>
        </p:spPr>
      </p:sp>
      <p:sp>
        <p:nvSpPr>
          <p:cNvPr id="42" name="Shape 33"/>
          <p:cNvSpPr/>
          <p:nvPr/>
        </p:nvSpPr>
        <p:spPr>
          <a:xfrm>
            <a:off x="9240012" y="4105656"/>
            <a:ext cx="457200" cy="457200"/>
          </a:xfrm>
          <a:prstGeom prst="ellipse">
            <a:avLst/>
          </a:prstGeom>
          <a:solidFill>
            <a:srgbClr val="6B7387"/>
          </a:solidFill>
        </p:spPr>
      </p:sp>
      <p:pic>
        <p:nvPicPr>
          <p:cNvPr id="43" name="Image 7" descr="/home/claude/icons/searc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49740" y="4215384"/>
            <a:ext cx="237744" cy="237744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9240012" y="4690872"/>
            <a:ext cx="21717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4F5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Exploratory Testing</a:t>
            </a:r>
            <a:endParaRPr lang="en-US" sz="1200" dirty="0"/>
          </a:p>
        </p:txBody>
      </p:sp>
      <p:sp>
        <p:nvSpPr>
          <p:cNvPr id="45" name="Text 35"/>
          <p:cNvSpPr/>
          <p:nvPr/>
        </p:nvSpPr>
        <p:spPr>
          <a:xfrm>
            <a:off x="9240012" y="5221224"/>
            <a:ext cx="217170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9A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وقت مخصص لاستكشاف سلوكيات غير متوقعة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7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F6C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TEST ENVIRONMENT &amp; TOOLS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F4F5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بيئة وأدوات الاختبار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5486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38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Restful-Booker API — Test Project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28816"/>
            <a:ext cx="457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38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3474720" cy="1600200"/>
          </a:xfrm>
          <a:prstGeom prst="roundRect">
            <a:avLst>
              <a:gd name="adj" fmla="val 5714"/>
            </a:avLst>
          </a:prstGeom>
          <a:solidFill>
            <a:srgbClr val="1D2230"/>
          </a:solidFill>
        </p:spPr>
      </p:sp>
      <p:sp>
        <p:nvSpPr>
          <p:cNvPr id="7" name="Shape 5"/>
          <p:cNvSpPr/>
          <p:nvPr/>
        </p:nvSpPr>
        <p:spPr>
          <a:xfrm>
            <a:off x="777240" y="1892808"/>
            <a:ext cx="566928" cy="566928"/>
          </a:xfrm>
          <a:prstGeom prst="ellipse">
            <a:avLst/>
          </a:prstGeom>
          <a:solidFill>
            <a:srgbClr val="FF6C37"/>
          </a:solidFill>
        </p:spPr>
      </p:sp>
      <p:pic>
        <p:nvPicPr>
          <p:cNvPr id="8" name="Image 0" descr="/home/claude/icons/sen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3303" y="2028871"/>
            <a:ext cx="294803" cy="29480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1783080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4F5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Postman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554480" y="2258568"/>
            <a:ext cx="22860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Manual / Exploratory Testing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43400" y="1508760"/>
            <a:ext cx="3474720" cy="1600200"/>
          </a:xfrm>
          <a:prstGeom prst="roundRect">
            <a:avLst>
              <a:gd name="adj" fmla="val 5714"/>
            </a:avLst>
          </a:prstGeom>
          <a:solidFill>
            <a:srgbClr val="1D2230"/>
          </a:solidFill>
        </p:spPr>
      </p:sp>
      <p:sp>
        <p:nvSpPr>
          <p:cNvPr id="12" name="Shape 9"/>
          <p:cNvSpPr/>
          <p:nvPr/>
        </p:nvSpPr>
        <p:spPr>
          <a:xfrm>
            <a:off x="4572000" y="1892808"/>
            <a:ext cx="566928" cy="566928"/>
          </a:xfrm>
          <a:prstGeom prst="ellipse">
            <a:avLst/>
          </a:prstGeom>
          <a:solidFill>
            <a:srgbClr val="34D1BF"/>
          </a:solidFill>
        </p:spPr>
      </p:sp>
      <p:pic>
        <p:nvPicPr>
          <p:cNvPr id="13" name="Image 1" descr="/home/claude/icons/z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8063" y="2028871"/>
            <a:ext cx="294803" cy="29480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49240" y="1783080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4F5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Newman (CLI)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349240" y="2258568"/>
            <a:ext cx="22860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Collection Runner / CI Execution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138160" y="1508760"/>
            <a:ext cx="3474720" cy="1600200"/>
          </a:xfrm>
          <a:prstGeom prst="roundRect">
            <a:avLst>
              <a:gd name="adj" fmla="val 5714"/>
            </a:avLst>
          </a:prstGeom>
          <a:solidFill>
            <a:srgbClr val="1D2230"/>
          </a:solidFill>
        </p:spPr>
      </p:sp>
      <p:sp>
        <p:nvSpPr>
          <p:cNvPr id="17" name="Shape 13"/>
          <p:cNvSpPr/>
          <p:nvPr/>
        </p:nvSpPr>
        <p:spPr>
          <a:xfrm>
            <a:off x="8366760" y="1892808"/>
            <a:ext cx="566928" cy="566928"/>
          </a:xfrm>
          <a:prstGeom prst="ellipse">
            <a:avLst/>
          </a:prstGeom>
          <a:solidFill>
            <a:srgbClr val="9B6BFF"/>
          </a:solidFill>
        </p:spPr>
      </p:sp>
      <p:pic>
        <p:nvPicPr>
          <p:cNvPr id="18" name="Image 2" descr="/home/claude/icons/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2823" y="2028871"/>
            <a:ext cx="294803" cy="29480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144000" y="1783080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4F5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pytest / REST Assured / Jest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9144000" y="2258568"/>
            <a:ext cx="22860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Automated Framework (اختياري)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548640" y="3429000"/>
            <a:ext cx="3474720" cy="1600200"/>
          </a:xfrm>
          <a:prstGeom prst="roundRect">
            <a:avLst>
              <a:gd name="adj" fmla="val 5714"/>
            </a:avLst>
          </a:prstGeom>
          <a:solidFill>
            <a:srgbClr val="1D2230"/>
          </a:solidFill>
        </p:spPr>
      </p:sp>
      <p:sp>
        <p:nvSpPr>
          <p:cNvPr id="22" name="Shape 17"/>
          <p:cNvSpPr/>
          <p:nvPr/>
        </p:nvSpPr>
        <p:spPr>
          <a:xfrm>
            <a:off x="777240" y="3813048"/>
            <a:ext cx="566928" cy="566928"/>
          </a:xfrm>
          <a:prstGeom prst="ellipse">
            <a:avLst/>
          </a:prstGeom>
          <a:solidFill>
            <a:srgbClr val="FFC857"/>
          </a:solidFill>
        </p:spPr>
      </p:sp>
      <p:pic>
        <p:nvPicPr>
          <p:cNvPr id="23" name="Image 3" descr="/home/claude/icons/activ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303" y="3949111"/>
            <a:ext cx="294803" cy="29480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554480" y="3703320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4F5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Newman HTML / Allure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1554480" y="4178808"/>
            <a:ext cx="22860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Reporting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4343400" y="3429000"/>
            <a:ext cx="3474720" cy="1600200"/>
          </a:xfrm>
          <a:prstGeom prst="roundRect">
            <a:avLst>
              <a:gd name="adj" fmla="val 5714"/>
            </a:avLst>
          </a:prstGeom>
          <a:solidFill>
            <a:srgbClr val="1D2230"/>
          </a:solidFill>
        </p:spPr>
      </p:sp>
      <p:sp>
        <p:nvSpPr>
          <p:cNvPr id="27" name="Shape 21"/>
          <p:cNvSpPr/>
          <p:nvPr/>
        </p:nvSpPr>
        <p:spPr>
          <a:xfrm>
            <a:off x="4572000" y="3813048"/>
            <a:ext cx="566928" cy="566928"/>
          </a:xfrm>
          <a:prstGeom prst="ellipse">
            <a:avLst/>
          </a:prstGeom>
          <a:solidFill>
            <a:srgbClr val="3ECF8E"/>
          </a:solidFill>
        </p:spPr>
      </p:sp>
      <p:pic>
        <p:nvPicPr>
          <p:cNvPr id="28" name="Image 4" descr="/home/claude/icons/gi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8063" y="3949111"/>
            <a:ext cx="294803" cy="294803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349240" y="3703320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4F5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GitHub Actions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5349240" y="4178808"/>
            <a:ext cx="22860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CI/CD Pipeline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8138160" y="3429000"/>
            <a:ext cx="3474720" cy="1600200"/>
          </a:xfrm>
          <a:prstGeom prst="roundRect">
            <a:avLst>
              <a:gd name="adj" fmla="val 5714"/>
            </a:avLst>
          </a:prstGeom>
          <a:solidFill>
            <a:srgbClr val="1D2230"/>
          </a:solidFill>
        </p:spPr>
      </p:sp>
      <p:sp>
        <p:nvSpPr>
          <p:cNvPr id="32" name="Shape 25"/>
          <p:cNvSpPr/>
          <p:nvPr/>
        </p:nvSpPr>
        <p:spPr>
          <a:xfrm>
            <a:off x="8366760" y="3813048"/>
            <a:ext cx="566928" cy="566928"/>
          </a:xfrm>
          <a:prstGeom prst="ellipse">
            <a:avLst/>
          </a:prstGeom>
          <a:solidFill>
            <a:srgbClr val="6B7387"/>
          </a:solidFill>
        </p:spPr>
      </p:sp>
      <p:pic>
        <p:nvPicPr>
          <p:cNvPr id="33" name="Image 5" descr="/home/claude/icons/li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2823" y="3949111"/>
            <a:ext cx="294803" cy="294803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9144000" y="3703320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4F5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Excel / Jira / Trello</a:t>
            </a:r>
            <a:endParaRPr lang="en-US" sz="1400" dirty="0"/>
          </a:p>
        </p:txBody>
      </p:sp>
      <p:sp>
        <p:nvSpPr>
          <p:cNvPr id="35" name="Text 27"/>
          <p:cNvSpPr/>
          <p:nvPr/>
        </p:nvSpPr>
        <p:spPr>
          <a:xfrm>
            <a:off x="9144000" y="4178808"/>
            <a:ext cx="22860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Bug Tracking</a:t>
            </a:r>
            <a:endParaRPr lang="en-US" sz="1100" dirty="0"/>
          </a:p>
        </p:txBody>
      </p:sp>
      <p:sp>
        <p:nvSpPr>
          <p:cNvPr id="36" name="Shape 28"/>
          <p:cNvSpPr/>
          <p:nvPr/>
        </p:nvSpPr>
        <p:spPr>
          <a:xfrm>
            <a:off x="548640" y="525780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1A1F2B"/>
          </a:solidFill>
        </p:spPr>
      </p:sp>
      <p:sp>
        <p:nvSpPr>
          <p:cNvPr id="37" name="Text 29"/>
          <p:cNvSpPr/>
          <p:nvPr/>
        </p:nvSpPr>
        <p:spPr>
          <a:xfrm>
            <a:off x="868680" y="5394960"/>
            <a:ext cx="104241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 rtl="1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9A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ملاحظة: التخطيط بالكامل Tool-agnostic — الأدوات دي مقترحة، والتنفيذ الفعلي في هذا المشروع تم بالكامل عبر Postman + Newman مدمجين داخل GitHub Actions.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7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F6C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TEST DATA &amp; RISK HANDLING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F4F5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بيانات الاختبار والمخاطر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5486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38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Restful-Booker API — Test Project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28816"/>
            <a:ext cx="457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38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440680" cy="4709160"/>
          </a:xfrm>
          <a:prstGeom prst="roundRect">
            <a:avLst>
              <a:gd name="adj" fmla="val 1942"/>
            </a:avLst>
          </a:prstGeom>
          <a:solidFill>
            <a:srgbClr val="1D2230"/>
          </a:solidFill>
        </p:spPr>
      </p:sp>
      <p:sp>
        <p:nvSpPr>
          <p:cNvPr id="7" name="Shape 5"/>
          <p:cNvSpPr/>
          <p:nvPr/>
        </p:nvSpPr>
        <p:spPr>
          <a:xfrm>
            <a:off x="822960" y="1691640"/>
            <a:ext cx="502920" cy="502920"/>
          </a:xfrm>
          <a:prstGeom prst="ellipse">
            <a:avLst/>
          </a:prstGeom>
          <a:solidFill>
            <a:srgbClr val="34D1BF"/>
          </a:solidFill>
        </p:spPr>
      </p:sp>
      <p:pic>
        <p:nvPicPr>
          <p:cNvPr id="8" name="Image 0" descr="/home/claude/icons/databas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1812341"/>
            <a:ext cx="261518" cy="26151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755648"/>
            <a:ext cx="4389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F4F5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استراتيجية بيانات الاختبار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68680" y="2395728"/>
            <a:ext cx="73152" cy="73152"/>
          </a:xfrm>
          <a:prstGeom prst="ellipse">
            <a:avLst/>
          </a:prstGeom>
          <a:solidFill>
            <a:srgbClr val="34D1BF"/>
          </a:solidFill>
        </p:spPr>
      </p:sp>
      <p:sp>
        <p:nvSpPr>
          <p:cNvPr id="11" name="Text 8"/>
          <p:cNvSpPr/>
          <p:nvPr/>
        </p:nvSpPr>
        <p:spPr>
          <a:xfrm>
            <a:off x="1097280" y="2258568"/>
            <a:ext cx="47548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 rtl="1">
              <a:lnSpc>
                <a:spcPct val="125000"/>
              </a:lnSpc>
              <a:buNone/>
            </a:pPr>
            <a:r>
              <a:rPr lang="en-US" sz="1200" dirty="0">
                <a:solidFill>
                  <a:srgbClr val="9A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الـ API يبدأ دايمًا بـ 10 حجوزات افتراضية، ويعمل Reset تلقائي كل 10 دقائق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68680" y="3355848"/>
            <a:ext cx="73152" cy="73152"/>
          </a:xfrm>
          <a:prstGeom prst="ellipse">
            <a:avLst/>
          </a:prstGeom>
          <a:solidFill>
            <a:srgbClr val="34D1BF"/>
          </a:solidFill>
        </p:spPr>
      </p:sp>
      <p:sp>
        <p:nvSpPr>
          <p:cNvPr id="13" name="Text 10"/>
          <p:cNvSpPr/>
          <p:nvPr/>
        </p:nvSpPr>
        <p:spPr>
          <a:xfrm>
            <a:off x="1097280" y="3218688"/>
            <a:ext cx="47548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 rtl="1">
              <a:lnSpc>
                <a:spcPct val="125000"/>
              </a:lnSpc>
              <a:buNone/>
            </a:pPr>
            <a:r>
              <a:rPr lang="en-US" sz="1200" dirty="0">
                <a:solidFill>
                  <a:srgbClr val="9A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كل Test Run بيولّد بياناته الخاصة بدل الاعتماد على IDs ثابتة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68680" y="4315968"/>
            <a:ext cx="73152" cy="73152"/>
          </a:xfrm>
          <a:prstGeom prst="ellipse">
            <a:avLst/>
          </a:prstGeom>
          <a:solidFill>
            <a:srgbClr val="34D1BF"/>
          </a:solidFill>
        </p:spPr>
      </p:sp>
      <p:sp>
        <p:nvSpPr>
          <p:cNvPr id="15" name="Text 12"/>
          <p:cNvSpPr/>
          <p:nvPr/>
        </p:nvSpPr>
        <p:spPr>
          <a:xfrm>
            <a:off x="1097280" y="4178808"/>
            <a:ext cx="47548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 rtl="1">
              <a:lnSpc>
                <a:spcPct val="125000"/>
              </a:lnSpc>
              <a:buNone/>
            </a:pPr>
            <a:r>
              <a:rPr lang="en-US" sz="1200" dirty="0">
                <a:solidFill>
                  <a:srgbClr val="9A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استخدام Dynamic Data (أسماء عشوائية / مبنية على Timestamp) لتفادي التعارض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68680" y="5276088"/>
            <a:ext cx="73152" cy="73152"/>
          </a:xfrm>
          <a:prstGeom prst="ellipse">
            <a:avLst/>
          </a:prstGeom>
          <a:solidFill>
            <a:srgbClr val="34D1BF"/>
          </a:solidFill>
        </p:spPr>
      </p:sp>
      <p:sp>
        <p:nvSpPr>
          <p:cNvPr id="17" name="Text 14"/>
          <p:cNvSpPr/>
          <p:nvPr/>
        </p:nvSpPr>
        <p:spPr>
          <a:xfrm>
            <a:off x="1097280" y="5138928"/>
            <a:ext cx="47548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 rtl="1">
              <a:lnSpc>
                <a:spcPct val="125000"/>
              </a:lnSpc>
              <a:buNone/>
            </a:pPr>
            <a:r>
              <a:rPr lang="en-US" sz="1200" dirty="0">
                <a:solidFill>
                  <a:srgbClr val="9A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الاحتفاظ بنسخة من بيانات الدخول الافتراضية admin/password123 لتوليد الـ Token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217920" y="1463040"/>
            <a:ext cx="5422392" cy="4709160"/>
          </a:xfrm>
          <a:prstGeom prst="roundRect">
            <a:avLst>
              <a:gd name="adj" fmla="val 1942"/>
            </a:avLst>
          </a:prstGeom>
          <a:solidFill>
            <a:srgbClr val="1D2230"/>
          </a:solidFill>
        </p:spPr>
      </p:sp>
      <p:sp>
        <p:nvSpPr>
          <p:cNvPr id="19" name="Shape 16"/>
          <p:cNvSpPr/>
          <p:nvPr/>
        </p:nvSpPr>
        <p:spPr>
          <a:xfrm>
            <a:off x="6492240" y="1691640"/>
            <a:ext cx="502920" cy="502920"/>
          </a:xfrm>
          <a:prstGeom prst="ellipse">
            <a:avLst/>
          </a:prstGeom>
          <a:solidFill>
            <a:srgbClr val="FFC857"/>
          </a:solidFill>
        </p:spPr>
      </p:sp>
      <p:pic>
        <p:nvPicPr>
          <p:cNvPr id="20" name="Image 1" descr="/home/claude/icons/ale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2941" y="1812341"/>
            <a:ext cx="261518" cy="26151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406640" y="1755648"/>
            <a:ext cx="4114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F4F5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أهم المخاطر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6492240" y="2331720"/>
            <a:ext cx="4846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50" b="1" dirty="0">
                <a:solidFill>
                  <a:srgbClr val="FFC85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Auto-Reset كل 10 دقائق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6492240" y="2642616"/>
            <a:ext cx="4846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9A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التأثير: فقدان بيانات الاختبار أثناء التنفيذ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6492240" y="2926080"/>
            <a:ext cx="4846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6B738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التعامل: توليد بيانات جديدة في كل Run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492240" y="3383280"/>
            <a:ext cx="4846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50" b="1" dirty="0">
                <a:solidFill>
                  <a:srgbClr val="FFC85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استضافة مجانية (Heroku)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6492240" y="3694176"/>
            <a:ext cx="4846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9A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التأثير: استجابة بطيئة تسبب Flaky Failures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6492240" y="3977640"/>
            <a:ext cx="4846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6B738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التعامل: Retry بسيط + عدم اعتبار البطء Bug فورًا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6492240" y="4434840"/>
            <a:ext cx="4846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50" b="1" dirty="0">
                <a:solidFill>
                  <a:srgbClr val="FFC85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الـ API مصمم عمدًا بأخطاء</a:t>
            </a:r>
            <a:endParaRPr lang="en-US" sz="1250" dirty="0"/>
          </a:p>
        </p:txBody>
      </p:sp>
      <p:sp>
        <p:nvSpPr>
          <p:cNvPr id="29" name="Text 25"/>
          <p:cNvSpPr/>
          <p:nvPr/>
        </p:nvSpPr>
        <p:spPr>
          <a:xfrm>
            <a:off x="6492240" y="4745736"/>
            <a:ext cx="4846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9A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التأثير: اختبارات Positive قد تفشل كسلوك متوقع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6492240" y="5029200"/>
            <a:ext cx="4846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6B738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التعامل: توثيق أي انحراف كـ Bug Report منظم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7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F6C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AUTOMATION SUITE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F4F5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تصميم مجموعة الاختبار في Postman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5486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38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Restful-Booker API — Test Project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28816"/>
            <a:ext cx="457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38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331720" cy="1417320"/>
          </a:xfrm>
          <a:prstGeom prst="roundRect">
            <a:avLst>
              <a:gd name="adj" fmla="val 6452"/>
            </a:avLst>
          </a:prstGeom>
          <a:solidFill>
            <a:srgbClr val="1D2230"/>
          </a:solidFill>
        </p:spPr>
      </p:sp>
      <p:sp>
        <p:nvSpPr>
          <p:cNvPr id="7" name="Text 5"/>
          <p:cNvSpPr/>
          <p:nvPr/>
        </p:nvSpPr>
        <p:spPr>
          <a:xfrm>
            <a:off x="548640" y="1572768"/>
            <a:ext cx="23317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34D1B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90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48640" y="2240280"/>
            <a:ext cx="2331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9A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Requests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63240" y="1463040"/>
            <a:ext cx="2331720" cy="1417320"/>
          </a:xfrm>
          <a:prstGeom prst="roundRect">
            <a:avLst>
              <a:gd name="adj" fmla="val 6452"/>
            </a:avLst>
          </a:prstGeom>
          <a:solidFill>
            <a:srgbClr val="1D2230"/>
          </a:solidFill>
        </p:spPr>
      </p:sp>
      <p:sp>
        <p:nvSpPr>
          <p:cNvPr id="10" name="Text 8"/>
          <p:cNvSpPr/>
          <p:nvPr/>
        </p:nvSpPr>
        <p:spPr>
          <a:xfrm>
            <a:off x="3063240" y="1572768"/>
            <a:ext cx="23317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6C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063240" y="2240280"/>
            <a:ext cx="2331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9A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Folders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577840" y="1463040"/>
            <a:ext cx="2331720" cy="1417320"/>
          </a:xfrm>
          <a:prstGeom prst="roundRect">
            <a:avLst>
              <a:gd name="adj" fmla="val 6452"/>
            </a:avLst>
          </a:prstGeom>
          <a:solidFill>
            <a:srgbClr val="1D2230"/>
          </a:solidFill>
        </p:spPr>
      </p:sp>
      <p:sp>
        <p:nvSpPr>
          <p:cNvPr id="13" name="Text 11"/>
          <p:cNvSpPr/>
          <p:nvPr/>
        </p:nvSpPr>
        <p:spPr>
          <a:xfrm>
            <a:off x="5577840" y="1572768"/>
            <a:ext cx="23317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C85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5577840" y="2240280"/>
            <a:ext cx="2331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9A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Environment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063240"/>
            <a:ext cx="699516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 rtl="1">
              <a:lnSpc>
                <a:spcPct val="130000"/>
              </a:lnSpc>
              <a:buNone/>
            </a:pPr>
            <a:r>
              <a:rPr lang="en-US" sz="1250" dirty="0">
                <a:solidFill>
                  <a:srgbClr val="9A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المجموعة منظمة في Postman على شكل مجلدات مرتبة رقميًا بترتيب تنفيذ الـ Endpoints — من الإعداد الأساسي وحتى سيناريوهات End-to-End، بما يضمن سهولة القراءة وإعادة التشغيل.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863840" y="1463040"/>
            <a:ext cx="3794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4F5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Folder Breakdown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863840" y="1874520"/>
            <a:ext cx="37947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A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00 · Setup — Ping &amp; Auth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863840" y="2103120"/>
            <a:ext cx="3794760" cy="128016"/>
          </a:xfrm>
          <a:prstGeom prst="roundRect">
            <a:avLst>
              <a:gd name="adj" fmla="val 21429"/>
            </a:avLst>
          </a:prstGeom>
          <a:solidFill>
            <a:srgbClr val="2A3040"/>
          </a:solidFill>
        </p:spPr>
      </p:sp>
      <p:sp>
        <p:nvSpPr>
          <p:cNvPr id="19" name="Shape 17"/>
          <p:cNvSpPr/>
          <p:nvPr/>
        </p:nvSpPr>
        <p:spPr>
          <a:xfrm>
            <a:off x="7863840" y="2103120"/>
            <a:ext cx="1707642" cy="128016"/>
          </a:xfrm>
          <a:prstGeom prst="roundRect">
            <a:avLst>
              <a:gd name="adj" fmla="val 21429"/>
            </a:avLst>
          </a:prstGeom>
          <a:solidFill>
            <a:srgbClr val="6B7387"/>
          </a:solidFill>
        </p:spPr>
      </p:sp>
      <p:sp>
        <p:nvSpPr>
          <p:cNvPr id="20" name="Text 18"/>
          <p:cNvSpPr/>
          <p:nvPr/>
        </p:nvSpPr>
        <p:spPr>
          <a:xfrm>
            <a:off x="11713464" y="2002536"/>
            <a:ext cx="3657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4F5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863840" y="2441448"/>
            <a:ext cx="37947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A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 · Booking · Create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863840" y="2670048"/>
            <a:ext cx="3794760" cy="128016"/>
          </a:xfrm>
          <a:prstGeom prst="roundRect">
            <a:avLst>
              <a:gd name="adj" fmla="val 21429"/>
            </a:avLst>
          </a:prstGeom>
          <a:solidFill>
            <a:srgbClr val="2A3040"/>
          </a:solidFill>
        </p:spPr>
      </p:sp>
      <p:sp>
        <p:nvSpPr>
          <p:cNvPr id="23" name="Shape 21"/>
          <p:cNvSpPr/>
          <p:nvPr/>
        </p:nvSpPr>
        <p:spPr>
          <a:xfrm>
            <a:off x="7863840" y="2670048"/>
            <a:ext cx="3794760" cy="128016"/>
          </a:xfrm>
          <a:prstGeom prst="roundRect">
            <a:avLst>
              <a:gd name="adj" fmla="val 21429"/>
            </a:avLst>
          </a:prstGeom>
          <a:solidFill>
            <a:srgbClr val="FF6C37"/>
          </a:solidFill>
        </p:spPr>
      </p:sp>
      <p:sp>
        <p:nvSpPr>
          <p:cNvPr id="24" name="Text 22"/>
          <p:cNvSpPr/>
          <p:nvPr/>
        </p:nvSpPr>
        <p:spPr>
          <a:xfrm>
            <a:off x="11713464" y="2569464"/>
            <a:ext cx="3657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4F5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863840" y="3008376"/>
            <a:ext cx="37947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A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 · Booking · Read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863840" y="3236976"/>
            <a:ext cx="3794760" cy="128016"/>
          </a:xfrm>
          <a:prstGeom prst="roundRect">
            <a:avLst>
              <a:gd name="adj" fmla="val 21429"/>
            </a:avLst>
          </a:prstGeom>
          <a:solidFill>
            <a:srgbClr val="2A3040"/>
          </a:solidFill>
        </p:spPr>
      </p:sp>
      <p:sp>
        <p:nvSpPr>
          <p:cNvPr id="27" name="Shape 25"/>
          <p:cNvSpPr/>
          <p:nvPr/>
        </p:nvSpPr>
        <p:spPr>
          <a:xfrm>
            <a:off x="7863840" y="3236976"/>
            <a:ext cx="3225546" cy="128016"/>
          </a:xfrm>
          <a:prstGeom prst="roundRect">
            <a:avLst>
              <a:gd name="adj" fmla="val 21429"/>
            </a:avLst>
          </a:prstGeom>
          <a:solidFill>
            <a:srgbClr val="34D1BF"/>
          </a:solidFill>
        </p:spPr>
      </p:sp>
      <p:sp>
        <p:nvSpPr>
          <p:cNvPr id="28" name="Text 26"/>
          <p:cNvSpPr/>
          <p:nvPr/>
        </p:nvSpPr>
        <p:spPr>
          <a:xfrm>
            <a:off x="11713464" y="3136392"/>
            <a:ext cx="3657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4F5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17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863840" y="3575304"/>
            <a:ext cx="37947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A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 · Booking · Update (PUT)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863840" y="3803904"/>
            <a:ext cx="3794760" cy="128016"/>
          </a:xfrm>
          <a:prstGeom prst="roundRect">
            <a:avLst>
              <a:gd name="adj" fmla="val 21429"/>
            </a:avLst>
          </a:prstGeom>
          <a:solidFill>
            <a:srgbClr val="2A3040"/>
          </a:solidFill>
        </p:spPr>
      </p:sp>
      <p:sp>
        <p:nvSpPr>
          <p:cNvPr id="31" name="Shape 29"/>
          <p:cNvSpPr/>
          <p:nvPr/>
        </p:nvSpPr>
        <p:spPr>
          <a:xfrm>
            <a:off x="7863840" y="3803904"/>
            <a:ext cx="3225546" cy="128016"/>
          </a:xfrm>
          <a:prstGeom prst="roundRect">
            <a:avLst>
              <a:gd name="adj" fmla="val 21429"/>
            </a:avLst>
          </a:prstGeom>
          <a:solidFill>
            <a:srgbClr val="9B6BFF"/>
          </a:solidFill>
        </p:spPr>
      </p:sp>
      <p:sp>
        <p:nvSpPr>
          <p:cNvPr id="32" name="Text 30"/>
          <p:cNvSpPr/>
          <p:nvPr/>
        </p:nvSpPr>
        <p:spPr>
          <a:xfrm>
            <a:off x="11713464" y="3703320"/>
            <a:ext cx="3657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4F5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17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863840" y="4142232"/>
            <a:ext cx="37947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A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 · Booking · Partial Update (PATCH)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863840" y="4370832"/>
            <a:ext cx="3794760" cy="128016"/>
          </a:xfrm>
          <a:prstGeom prst="roundRect">
            <a:avLst>
              <a:gd name="adj" fmla="val 21429"/>
            </a:avLst>
          </a:prstGeom>
          <a:solidFill>
            <a:srgbClr val="2A3040"/>
          </a:solidFill>
        </p:spPr>
      </p:sp>
      <p:sp>
        <p:nvSpPr>
          <p:cNvPr id="35" name="Shape 33"/>
          <p:cNvSpPr/>
          <p:nvPr/>
        </p:nvSpPr>
        <p:spPr>
          <a:xfrm>
            <a:off x="7863840" y="4370832"/>
            <a:ext cx="1328166" cy="128016"/>
          </a:xfrm>
          <a:prstGeom prst="roundRect">
            <a:avLst>
              <a:gd name="adj" fmla="val 21429"/>
            </a:avLst>
          </a:prstGeom>
          <a:solidFill>
            <a:srgbClr val="FFC857"/>
          </a:solidFill>
        </p:spPr>
      </p:sp>
      <p:sp>
        <p:nvSpPr>
          <p:cNvPr id="36" name="Text 34"/>
          <p:cNvSpPr/>
          <p:nvPr/>
        </p:nvSpPr>
        <p:spPr>
          <a:xfrm>
            <a:off x="11713464" y="4270248"/>
            <a:ext cx="3657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4F5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863840" y="4709160"/>
            <a:ext cx="37947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A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05 · Booking · Delete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863840" y="4937760"/>
            <a:ext cx="3794760" cy="128016"/>
          </a:xfrm>
          <a:prstGeom prst="roundRect">
            <a:avLst>
              <a:gd name="adj" fmla="val 21429"/>
            </a:avLst>
          </a:prstGeom>
          <a:solidFill>
            <a:srgbClr val="2A3040"/>
          </a:solidFill>
        </p:spPr>
      </p:sp>
      <p:sp>
        <p:nvSpPr>
          <p:cNvPr id="39" name="Shape 37"/>
          <p:cNvSpPr/>
          <p:nvPr/>
        </p:nvSpPr>
        <p:spPr>
          <a:xfrm>
            <a:off x="7863840" y="4937760"/>
            <a:ext cx="1328166" cy="128016"/>
          </a:xfrm>
          <a:prstGeom prst="roundRect">
            <a:avLst>
              <a:gd name="adj" fmla="val 21429"/>
            </a:avLst>
          </a:prstGeom>
          <a:solidFill>
            <a:srgbClr val="FF5C5C"/>
          </a:solidFill>
        </p:spPr>
      </p:sp>
      <p:sp>
        <p:nvSpPr>
          <p:cNvPr id="40" name="Text 38"/>
          <p:cNvSpPr/>
          <p:nvPr/>
        </p:nvSpPr>
        <p:spPr>
          <a:xfrm>
            <a:off x="11713464" y="4837176"/>
            <a:ext cx="3657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4F5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863840" y="5276088"/>
            <a:ext cx="37947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A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06 · End-to-End Scenarios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863840" y="5504688"/>
            <a:ext cx="3794760" cy="128016"/>
          </a:xfrm>
          <a:prstGeom prst="roundRect">
            <a:avLst>
              <a:gd name="adj" fmla="val 21429"/>
            </a:avLst>
          </a:prstGeom>
          <a:solidFill>
            <a:srgbClr val="2A3040"/>
          </a:solidFill>
        </p:spPr>
      </p:sp>
      <p:sp>
        <p:nvSpPr>
          <p:cNvPr id="43" name="Shape 41"/>
          <p:cNvSpPr/>
          <p:nvPr/>
        </p:nvSpPr>
        <p:spPr>
          <a:xfrm>
            <a:off x="7863840" y="5504688"/>
            <a:ext cx="2466594" cy="128016"/>
          </a:xfrm>
          <a:prstGeom prst="roundRect">
            <a:avLst>
              <a:gd name="adj" fmla="val 21429"/>
            </a:avLst>
          </a:prstGeom>
          <a:solidFill>
            <a:srgbClr val="3ECF8E"/>
          </a:solidFill>
        </p:spPr>
      </p:sp>
      <p:sp>
        <p:nvSpPr>
          <p:cNvPr id="44" name="Text 42"/>
          <p:cNvSpPr/>
          <p:nvPr/>
        </p:nvSpPr>
        <p:spPr>
          <a:xfrm>
            <a:off x="11713464" y="5404104"/>
            <a:ext cx="3657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4F5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13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48640" y="4297680"/>
            <a:ext cx="6995160" cy="1874520"/>
          </a:xfrm>
          <a:prstGeom prst="roundRect">
            <a:avLst>
              <a:gd name="adj" fmla="val 4878"/>
            </a:avLst>
          </a:prstGeom>
          <a:solidFill>
            <a:srgbClr val="1A1F2B"/>
          </a:solidFill>
        </p:spPr>
      </p:sp>
      <p:sp>
        <p:nvSpPr>
          <p:cNvPr id="46" name="Text 44"/>
          <p:cNvSpPr/>
          <p:nvPr/>
        </p:nvSpPr>
        <p:spPr>
          <a:xfrm>
            <a:off x="822960" y="4480560"/>
            <a:ext cx="64465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 rtl="1">
              <a:lnSpc>
                <a:spcPct val="130000"/>
              </a:lnSpc>
              <a:buNone/>
            </a:pPr>
            <a:r>
              <a:rPr lang="en-US" sz="1200" dirty="0">
                <a:solidFill>
                  <a:srgbClr val="9A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من Setup الأساسي، مرورًا بالسيناريوهات السالبة والحدّية لكل عملية، وصولًا لسيناريوهات End-to-End الكاملة — كل مجلد بيغطي جانب مختلف من دورة حياة الحجز.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22960" y="5394960"/>
            <a:ext cx="6446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4D1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postman/Restful-Booker.postman_collection.json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822960" y="5687568"/>
            <a:ext cx="6446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4D1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postman/Restful-Booker.postman_environment.json</a:t>
            </a:r>
            <a:endParaRPr lang="en-US" sz="10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7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F6C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LIVE EXECUTION ·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F4F5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Create Booking — POST /booking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5486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38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Restful-Booker API — Test Project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28816"/>
            <a:ext cx="457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38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38912" y="1307592"/>
            <a:ext cx="7168896" cy="4492929"/>
          </a:xfrm>
          <a:prstGeom prst="roundRect">
            <a:avLst>
              <a:gd name="adj" fmla="val 1221"/>
            </a:avLst>
          </a:prstGeom>
          <a:solidFill>
            <a:srgbClr val="262C3D"/>
          </a:solidFill>
        </p:spPr>
      </p:sp>
      <p:pic>
        <p:nvPicPr>
          <p:cNvPr id="7" name="Image 0" descr="/home/claude/imgs/crea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6949440" cy="427347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818120" y="1417320"/>
            <a:ext cx="3840480" cy="502920"/>
          </a:xfrm>
          <a:prstGeom prst="roundRect">
            <a:avLst>
              <a:gd name="adj" fmla="val 10909"/>
            </a:avLst>
          </a:prstGeom>
          <a:solidFill>
            <a:srgbClr val="FF6C37"/>
          </a:solidFill>
        </p:spPr>
      </p:sp>
      <p:sp>
        <p:nvSpPr>
          <p:cNvPr id="9" name="Text 6"/>
          <p:cNvSpPr/>
          <p:nvPr/>
        </p:nvSpPr>
        <p:spPr>
          <a:xfrm>
            <a:off x="7818120" y="1417320"/>
            <a:ext cx="12344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71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POST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052560" y="1417320"/>
            <a:ext cx="2606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4171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{{baseUrl}}/booking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818120" y="2148840"/>
            <a:ext cx="3840480" cy="777240"/>
          </a:xfrm>
          <a:prstGeom prst="roundRect">
            <a:avLst>
              <a:gd name="adj" fmla="val 9412"/>
            </a:avLst>
          </a:prstGeom>
          <a:solidFill>
            <a:srgbClr val="1D2230"/>
          </a:solidFill>
        </p:spPr>
      </p:sp>
      <p:sp>
        <p:nvSpPr>
          <p:cNvPr id="12" name="Text 9"/>
          <p:cNvSpPr/>
          <p:nvPr/>
        </p:nvSpPr>
        <p:spPr>
          <a:xfrm>
            <a:off x="8019288" y="2240280"/>
            <a:ext cx="3438144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50" dirty="0">
                <a:solidFill>
                  <a:srgbClr val="6B738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STATUS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019288" y="2496312"/>
            <a:ext cx="34381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ECF8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200 OK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7818120" y="3063240"/>
            <a:ext cx="3840480" cy="777240"/>
          </a:xfrm>
          <a:prstGeom prst="roundRect">
            <a:avLst>
              <a:gd name="adj" fmla="val 9412"/>
            </a:avLst>
          </a:prstGeom>
          <a:solidFill>
            <a:srgbClr val="1D2230"/>
          </a:solidFill>
        </p:spPr>
      </p:sp>
      <p:sp>
        <p:nvSpPr>
          <p:cNvPr id="15" name="Text 12"/>
          <p:cNvSpPr/>
          <p:nvPr/>
        </p:nvSpPr>
        <p:spPr>
          <a:xfrm>
            <a:off x="8019288" y="3154680"/>
            <a:ext cx="3438144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50" dirty="0">
                <a:solidFill>
                  <a:srgbClr val="6B738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RESPONSE TIME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019288" y="3410712"/>
            <a:ext cx="34381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4F5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147 ms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7818120" y="3977640"/>
            <a:ext cx="3840480" cy="777240"/>
          </a:xfrm>
          <a:prstGeom prst="roundRect">
            <a:avLst>
              <a:gd name="adj" fmla="val 9412"/>
            </a:avLst>
          </a:prstGeom>
          <a:solidFill>
            <a:srgbClr val="1D2230"/>
          </a:solidFill>
        </p:spPr>
      </p:sp>
      <p:sp>
        <p:nvSpPr>
          <p:cNvPr id="18" name="Text 15"/>
          <p:cNvSpPr/>
          <p:nvPr/>
        </p:nvSpPr>
        <p:spPr>
          <a:xfrm>
            <a:off x="8019288" y="4069080"/>
            <a:ext cx="3438144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50" dirty="0">
                <a:solidFill>
                  <a:srgbClr val="6B738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BOOKING ID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8019288" y="4325112"/>
            <a:ext cx="34381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4D1B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1828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7818120" y="4937760"/>
            <a:ext cx="3840480" cy="1417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9A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الطلب بيرسل بيانات حجز كاملة، وبيستخدم Post-response Script يحفظ الـ bookingid تلقائيًا في متغيّر بيئة (bookingid) عشان يتربط بيه باقي الطلبات (Update / Delete) في نفس الـ Run.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7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F6C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LIVE EXECUTION ·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F4F5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Update Booking — PUT /booking/{id}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5486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38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Restful-Booker API — Test Project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28816"/>
            <a:ext cx="457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38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38912" y="1307592"/>
            <a:ext cx="7168896" cy="4510231"/>
          </a:xfrm>
          <a:prstGeom prst="roundRect">
            <a:avLst>
              <a:gd name="adj" fmla="val 1216"/>
            </a:avLst>
          </a:prstGeom>
          <a:solidFill>
            <a:srgbClr val="262C3D"/>
          </a:solidFill>
        </p:spPr>
      </p:sp>
      <p:pic>
        <p:nvPicPr>
          <p:cNvPr id="7" name="Image 0" descr="/home/claude/imgs/upda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6949440" cy="429077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818120" y="1417320"/>
            <a:ext cx="3840480" cy="502920"/>
          </a:xfrm>
          <a:prstGeom prst="roundRect">
            <a:avLst>
              <a:gd name="adj" fmla="val 10909"/>
            </a:avLst>
          </a:prstGeom>
          <a:solidFill>
            <a:srgbClr val="9B6BFF"/>
          </a:solidFill>
        </p:spPr>
      </p:sp>
      <p:sp>
        <p:nvSpPr>
          <p:cNvPr id="9" name="Text 6"/>
          <p:cNvSpPr/>
          <p:nvPr/>
        </p:nvSpPr>
        <p:spPr>
          <a:xfrm>
            <a:off x="7818120" y="1417320"/>
            <a:ext cx="12344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71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PUT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052560" y="1417320"/>
            <a:ext cx="2606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4171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{{baseUrl}}/booking/{{bookingid}}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818120" y="2148840"/>
            <a:ext cx="3840480" cy="777240"/>
          </a:xfrm>
          <a:prstGeom prst="roundRect">
            <a:avLst>
              <a:gd name="adj" fmla="val 9412"/>
            </a:avLst>
          </a:prstGeom>
          <a:solidFill>
            <a:srgbClr val="1D2230"/>
          </a:solidFill>
        </p:spPr>
      </p:sp>
      <p:sp>
        <p:nvSpPr>
          <p:cNvPr id="12" name="Text 9"/>
          <p:cNvSpPr/>
          <p:nvPr/>
        </p:nvSpPr>
        <p:spPr>
          <a:xfrm>
            <a:off x="8019288" y="2240280"/>
            <a:ext cx="3438144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50" dirty="0">
                <a:solidFill>
                  <a:srgbClr val="6B738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STATUS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019288" y="2496312"/>
            <a:ext cx="34381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ECF8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200 OK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7818120" y="3063240"/>
            <a:ext cx="3840480" cy="777240"/>
          </a:xfrm>
          <a:prstGeom prst="roundRect">
            <a:avLst>
              <a:gd name="adj" fmla="val 9412"/>
            </a:avLst>
          </a:prstGeom>
          <a:solidFill>
            <a:srgbClr val="1D2230"/>
          </a:solidFill>
        </p:spPr>
      </p:sp>
      <p:sp>
        <p:nvSpPr>
          <p:cNvPr id="15" name="Text 12"/>
          <p:cNvSpPr/>
          <p:nvPr/>
        </p:nvSpPr>
        <p:spPr>
          <a:xfrm>
            <a:off x="8019288" y="3154680"/>
            <a:ext cx="3438144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50" dirty="0">
                <a:solidFill>
                  <a:srgbClr val="6B738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RESPONSE TIME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019288" y="3410712"/>
            <a:ext cx="34381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4F5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171 ms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7818120" y="3977640"/>
            <a:ext cx="3840480" cy="777240"/>
          </a:xfrm>
          <a:prstGeom prst="roundRect">
            <a:avLst>
              <a:gd name="adj" fmla="val 9412"/>
            </a:avLst>
          </a:prstGeom>
          <a:solidFill>
            <a:srgbClr val="1D2230"/>
          </a:solidFill>
        </p:spPr>
      </p:sp>
      <p:sp>
        <p:nvSpPr>
          <p:cNvPr id="18" name="Text 15"/>
          <p:cNvSpPr/>
          <p:nvPr/>
        </p:nvSpPr>
        <p:spPr>
          <a:xfrm>
            <a:off x="8019288" y="4069080"/>
            <a:ext cx="3438144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50" dirty="0">
                <a:solidFill>
                  <a:srgbClr val="6B738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AUTH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8019288" y="4325112"/>
            <a:ext cx="34381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C85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Cookie Token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7818120" y="4937760"/>
            <a:ext cx="3840480" cy="1417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9A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تعديل كامل لبيانات الحجز باستخدام الـ bookingid المحفوظ من خطوة الإنشاء. الطلب محمي بالـ Token، والـ Response بيرجع مطابق تمامًا للـ Body المُرسَل — تحقق من التزام الـ API بالعقد المتوقع.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7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F6C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LIVE EXECUTION ·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F4F5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Delete Booking — DELETE /booking/{id}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5486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38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Restful-Booker API — Test Project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28816"/>
            <a:ext cx="457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38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38912" y="1307592"/>
            <a:ext cx="7168896" cy="4504463"/>
          </a:xfrm>
          <a:prstGeom prst="roundRect">
            <a:avLst>
              <a:gd name="adj" fmla="val 1218"/>
            </a:avLst>
          </a:prstGeom>
          <a:solidFill>
            <a:srgbClr val="262C3D"/>
          </a:solidFill>
        </p:spPr>
      </p:sp>
      <p:pic>
        <p:nvPicPr>
          <p:cNvPr id="7" name="Image 0" descr="/home/claude/imgs/dele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6949440" cy="428500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818120" y="1417320"/>
            <a:ext cx="3840480" cy="502920"/>
          </a:xfrm>
          <a:prstGeom prst="roundRect">
            <a:avLst>
              <a:gd name="adj" fmla="val 10909"/>
            </a:avLst>
          </a:prstGeom>
          <a:solidFill>
            <a:srgbClr val="FF5C5C"/>
          </a:solidFill>
        </p:spPr>
      </p:sp>
      <p:sp>
        <p:nvSpPr>
          <p:cNvPr id="9" name="Text 6"/>
          <p:cNvSpPr/>
          <p:nvPr/>
        </p:nvSpPr>
        <p:spPr>
          <a:xfrm>
            <a:off x="7818120" y="1417320"/>
            <a:ext cx="12344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71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DELETE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052560" y="1417320"/>
            <a:ext cx="2606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4171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{{baseUrl}}/booking/{{bookingid}}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818120" y="2148840"/>
            <a:ext cx="3840480" cy="777240"/>
          </a:xfrm>
          <a:prstGeom prst="roundRect">
            <a:avLst>
              <a:gd name="adj" fmla="val 9412"/>
            </a:avLst>
          </a:prstGeom>
          <a:solidFill>
            <a:srgbClr val="1D2230"/>
          </a:solidFill>
        </p:spPr>
      </p:sp>
      <p:sp>
        <p:nvSpPr>
          <p:cNvPr id="12" name="Text 9"/>
          <p:cNvSpPr/>
          <p:nvPr/>
        </p:nvSpPr>
        <p:spPr>
          <a:xfrm>
            <a:off x="8019288" y="2240280"/>
            <a:ext cx="3438144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50" dirty="0">
                <a:solidFill>
                  <a:srgbClr val="6B738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STATUS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019288" y="2496312"/>
            <a:ext cx="34381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ECF8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201 Created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7818120" y="3063240"/>
            <a:ext cx="3840480" cy="777240"/>
          </a:xfrm>
          <a:prstGeom prst="roundRect">
            <a:avLst>
              <a:gd name="adj" fmla="val 9412"/>
            </a:avLst>
          </a:prstGeom>
          <a:solidFill>
            <a:srgbClr val="1D2230"/>
          </a:solidFill>
        </p:spPr>
      </p:sp>
      <p:sp>
        <p:nvSpPr>
          <p:cNvPr id="15" name="Text 12"/>
          <p:cNvSpPr/>
          <p:nvPr/>
        </p:nvSpPr>
        <p:spPr>
          <a:xfrm>
            <a:off x="8019288" y="3154680"/>
            <a:ext cx="3438144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50" dirty="0">
                <a:solidFill>
                  <a:srgbClr val="6B738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RESPONSE TIME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019288" y="3410712"/>
            <a:ext cx="34381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4F5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194 ms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7818120" y="3977640"/>
            <a:ext cx="3840480" cy="777240"/>
          </a:xfrm>
          <a:prstGeom prst="roundRect">
            <a:avLst>
              <a:gd name="adj" fmla="val 9412"/>
            </a:avLst>
          </a:prstGeom>
          <a:solidFill>
            <a:srgbClr val="1D2230"/>
          </a:solidFill>
        </p:spPr>
      </p:sp>
      <p:sp>
        <p:nvSpPr>
          <p:cNvPr id="18" name="Text 15"/>
          <p:cNvSpPr/>
          <p:nvPr/>
        </p:nvSpPr>
        <p:spPr>
          <a:xfrm>
            <a:off x="8019288" y="4069080"/>
            <a:ext cx="3438144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50" dirty="0">
                <a:solidFill>
                  <a:srgbClr val="6B738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AUTH HEADER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8019288" y="4325112"/>
            <a:ext cx="34381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C85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Cookie: token={{token}}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7818120" y="4937760"/>
            <a:ext cx="3840480" cy="1417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9A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حذف الحجز باستخدام الـ Token عبر الـ Cookie Header. ملحوظة مثيرة للاهتمام: الـ API بيرجّع 201 Created بدل 200 OK المتوقع للـ DELETE — تم توثيقها كـ Known Issue.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7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F6C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LIVE EXECUTION ·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F4F5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Verify Deletion — GET /booking/{id}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5486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38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Restful-Booker API — Test Project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28816"/>
            <a:ext cx="457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38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38912" y="1307592"/>
            <a:ext cx="7168896" cy="4556368"/>
          </a:xfrm>
          <a:prstGeom prst="roundRect">
            <a:avLst>
              <a:gd name="adj" fmla="val 1204"/>
            </a:avLst>
          </a:prstGeom>
          <a:solidFill>
            <a:srgbClr val="262C3D"/>
          </a:solidFill>
        </p:spPr>
      </p:sp>
      <p:pic>
        <p:nvPicPr>
          <p:cNvPr id="7" name="Image 0" descr="/home/claude/imgs/verif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6949440" cy="433691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818120" y="1417320"/>
            <a:ext cx="3840480" cy="502920"/>
          </a:xfrm>
          <a:prstGeom prst="roundRect">
            <a:avLst>
              <a:gd name="adj" fmla="val 10909"/>
            </a:avLst>
          </a:prstGeom>
          <a:solidFill>
            <a:srgbClr val="34D1BF"/>
          </a:solidFill>
        </p:spPr>
      </p:sp>
      <p:sp>
        <p:nvSpPr>
          <p:cNvPr id="9" name="Text 6"/>
          <p:cNvSpPr/>
          <p:nvPr/>
        </p:nvSpPr>
        <p:spPr>
          <a:xfrm>
            <a:off x="7818120" y="1417320"/>
            <a:ext cx="12344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71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GET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052560" y="1417320"/>
            <a:ext cx="2606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4171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{{baseUrl}}/booking/{{bookingid}}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818120" y="2148840"/>
            <a:ext cx="3840480" cy="777240"/>
          </a:xfrm>
          <a:prstGeom prst="roundRect">
            <a:avLst>
              <a:gd name="adj" fmla="val 9412"/>
            </a:avLst>
          </a:prstGeom>
          <a:solidFill>
            <a:srgbClr val="1D2230"/>
          </a:solidFill>
        </p:spPr>
      </p:sp>
      <p:sp>
        <p:nvSpPr>
          <p:cNvPr id="12" name="Text 9"/>
          <p:cNvSpPr/>
          <p:nvPr/>
        </p:nvSpPr>
        <p:spPr>
          <a:xfrm>
            <a:off x="8019288" y="2240280"/>
            <a:ext cx="3438144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50" dirty="0">
                <a:solidFill>
                  <a:srgbClr val="6B738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STATUS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019288" y="2496312"/>
            <a:ext cx="34381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5C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404 Not Found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7818120" y="3063240"/>
            <a:ext cx="3840480" cy="777240"/>
          </a:xfrm>
          <a:prstGeom prst="roundRect">
            <a:avLst>
              <a:gd name="adj" fmla="val 9412"/>
            </a:avLst>
          </a:prstGeom>
          <a:solidFill>
            <a:srgbClr val="1D2230"/>
          </a:solidFill>
        </p:spPr>
      </p:sp>
      <p:sp>
        <p:nvSpPr>
          <p:cNvPr id="15" name="Text 12"/>
          <p:cNvSpPr/>
          <p:nvPr/>
        </p:nvSpPr>
        <p:spPr>
          <a:xfrm>
            <a:off x="8019288" y="3154680"/>
            <a:ext cx="3438144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50" dirty="0">
                <a:solidFill>
                  <a:srgbClr val="6B738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RESPONSE TIME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019288" y="3410712"/>
            <a:ext cx="34381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4F5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820 ms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7818120" y="3977640"/>
            <a:ext cx="3840480" cy="777240"/>
          </a:xfrm>
          <a:prstGeom prst="roundRect">
            <a:avLst>
              <a:gd name="adj" fmla="val 9412"/>
            </a:avLst>
          </a:prstGeom>
          <a:solidFill>
            <a:srgbClr val="1D2230"/>
          </a:solidFill>
        </p:spPr>
      </p:sp>
      <p:sp>
        <p:nvSpPr>
          <p:cNvPr id="18" name="Text 15"/>
          <p:cNvSpPr/>
          <p:nvPr/>
        </p:nvSpPr>
        <p:spPr>
          <a:xfrm>
            <a:off x="8019288" y="4069080"/>
            <a:ext cx="3438144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50" dirty="0">
                <a:solidFill>
                  <a:srgbClr val="6B738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PURPOSE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8019288" y="4325112"/>
            <a:ext cx="34381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4F5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تأكيد الحذف فعليًا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7818120" y="4937760"/>
            <a:ext cx="3840480" cy="1417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9A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خطوة تحقق أساسية بعد أي عملية Delete: إعادة طلب GET لنفس الـ ID والتأكد إن الـ API بيرجع 404 — وده اللي بيثبت إن الحذف اتنفذ فعليًا مش مجرد Status Code وهمي.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7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F6C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END-TO-END SCENARIOS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F4F5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سيناريوهات الاختبار الشامل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5486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38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Restful-Booker API — Test Project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28816"/>
            <a:ext cx="457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38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1D2230"/>
          </a:solidFill>
        </p:spPr>
      </p:sp>
      <p:sp>
        <p:nvSpPr>
          <p:cNvPr id="7" name="Shape 5"/>
          <p:cNvSpPr/>
          <p:nvPr/>
        </p:nvSpPr>
        <p:spPr>
          <a:xfrm>
            <a:off x="822960" y="1810512"/>
            <a:ext cx="914400" cy="914400"/>
          </a:xfrm>
          <a:prstGeom prst="ellipse">
            <a:avLst/>
          </a:prstGeom>
          <a:solidFill>
            <a:srgbClr val="3ECF8E"/>
          </a:solidFill>
        </p:spPr>
      </p:sp>
      <p:pic>
        <p:nvPicPr>
          <p:cNvPr id="8" name="Image 0" descr="/home/claude/icons/che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029968"/>
            <a:ext cx="475488" cy="4754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65960" y="1719072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ECF8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E2E-01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965960" y="2011680"/>
            <a:ext cx="90525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F4F5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دورة الحياة الكاملة للحجز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965960" y="2395728"/>
            <a:ext cx="90525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 rtl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9A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Auth → Create → Get → Update (PUT) → Partial Update (PATCH) → Delete → Get (تأكيد 404)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3182112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1D2230"/>
          </a:solidFill>
        </p:spPr>
      </p:sp>
      <p:sp>
        <p:nvSpPr>
          <p:cNvPr id="13" name="Shape 10"/>
          <p:cNvSpPr/>
          <p:nvPr/>
        </p:nvSpPr>
        <p:spPr>
          <a:xfrm>
            <a:off x="822960" y="3438144"/>
            <a:ext cx="914400" cy="914400"/>
          </a:xfrm>
          <a:prstGeom prst="ellipse">
            <a:avLst/>
          </a:prstGeom>
          <a:solidFill>
            <a:srgbClr val="34D1BF"/>
          </a:solidFill>
        </p:spPr>
      </p:sp>
      <p:pic>
        <p:nvPicPr>
          <p:cNvPr id="14" name="Image 1" descr="/home/claude/icons/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" y="3657600"/>
            <a:ext cx="475488" cy="4754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965960" y="3346704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4D1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E2E-02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1965960" y="3639312"/>
            <a:ext cx="90525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F4F5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التحقق من الفلاتر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1965960" y="4023360"/>
            <a:ext cx="90525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 rtl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9A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إنشاء عدة حجوزات بأسماء مختلفة، والتأكد إن GetBookingIds بالفلاتر بيرجع النتيجة الصحيحة بدقة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48640" y="4809744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1D2230"/>
          </a:solidFill>
        </p:spPr>
      </p:sp>
      <p:sp>
        <p:nvSpPr>
          <p:cNvPr id="19" name="Shape 15"/>
          <p:cNvSpPr/>
          <p:nvPr/>
        </p:nvSpPr>
        <p:spPr>
          <a:xfrm>
            <a:off x="822960" y="5065776"/>
            <a:ext cx="914400" cy="914400"/>
          </a:xfrm>
          <a:prstGeom prst="ellipse">
            <a:avLst/>
          </a:prstGeom>
          <a:solidFill>
            <a:srgbClr val="FFC857"/>
          </a:solidFill>
        </p:spPr>
      </p:sp>
      <p:pic>
        <p:nvPicPr>
          <p:cNvPr id="20" name="Image 2" descr="/home/claude/icons/c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5285232"/>
            <a:ext cx="475488" cy="47548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965960" y="4974336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C85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E2E-03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1965960" y="5266944"/>
            <a:ext cx="90525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F4F5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الثبات بعد الـ Auto-Reset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1965960" y="5650992"/>
            <a:ext cx="90525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 rtl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9A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تشغيل نفس الـ Suite بعد إعادة ضبط البيانات التلقائية (كل 10 دقائق) للتأكد من ثبات النتائج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7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F6C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AUTOMATED EXECUTION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F4F5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نتائج التنفيذ الفعلي — Newman &amp; CI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5486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38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Restful-Booker API — Test Project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28816"/>
            <a:ext cx="457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38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1D2230"/>
          </a:solidFill>
        </p:spPr>
      </p:sp>
      <p:sp>
        <p:nvSpPr>
          <p:cNvPr id="7" name="Text 5"/>
          <p:cNvSpPr/>
          <p:nvPr/>
        </p:nvSpPr>
        <p:spPr>
          <a:xfrm>
            <a:off x="548640" y="1627632"/>
            <a:ext cx="26060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34D1B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90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48640" y="2487168"/>
            <a:ext cx="2606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kern="0" spc="50" dirty="0">
                <a:solidFill>
                  <a:srgbClr val="9A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Total Requests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19272" y="146304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1D2230"/>
          </a:solidFill>
        </p:spPr>
      </p:sp>
      <p:sp>
        <p:nvSpPr>
          <p:cNvPr id="10" name="Text 8"/>
          <p:cNvSpPr/>
          <p:nvPr/>
        </p:nvSpPr>
        <p:spPr>
          <a:xfrm>
            <a:off x="3319272" y="1627632"/>
            <a:ext cx="26060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6C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85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3319272" y="2487168"/>
            <a:ext cx="2606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kern="0" spc="50" dirty="0">
                <a:solidFill>
                  <a:srgbClr val="9A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Total Assertions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89904" y="146304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1D2230"/>
          </a:solidFill>
        </p:spPr>
      </p:sp>
      <p:sp>
        <p:nvSpPr>
          <p:cNvPr id="13" name="Text 11"/>
          <p:cNvSpPr/>
          <p:nvPr/>
        </p:nvSpPr>
        <p:spPr>
          <a:xfrm>
            <a:off x="6089904" y="1627632"/>
            <a:ext cx="26060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3ECF8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6089904" y="2487168"/>
            <a:ext cx="2606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kern="0" spc="50" dirty="0">
                <a:solidFill>
                  <a:srgbClr val="9A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Failed Tests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860536" y="146304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1D2230"/>
          </a:solidFill>
        </p:spPr>
      </p:sp>
      <p:sp>
        <p:nvSpPr>
          <p:cNvPr id="16" name="Text 14"/>
          <p:cNvSpPr/>
          <p:nvPr/>
        </p:nvSpPr>
        <p:spPr>
          <a:xfrm>
            <a:off x="8860536" y="1627632"/>
            <a:ext cx="26060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C85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8860536" y="2487168"/>
            <a:ext cx="2606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kern="0" spc="50" dirty="0">
                <a:solidFill>
                  <a:srgbClr val="9A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Iteration / Run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383280"/>
            <a:ext cx="6492240" cy="2788920"/>
          </a:xfrm>
          <a:prstGeom prst="roundRect">
            <a:avLst>
              <a:gd name="adj" fmla="val 3279"/>
            </a:avLst>
          </a:prstGeom>
          <a:solidFill>
            <a:srgbClr val="1D2230"/>
          </a:solidFill>
        </p:spPr>
      </p:sp>
      <p:sp>
        <p:nvSpPr>
          <p:cNvPr id="19" name="Shape 17"/>
          <p:cNvSpPr/>
          <p:nvPr/>
        </p:nvSpPr>
        <p:spPr>
          <a:xfrm>
            <a:off x="822960" y="3611880"/>
            <a:ext cx="502920" cy="502920"/>
          </a:xfrm>
          <a:prstGeom prst="ellipse">
            <a:avLst/>
          </a:prstGeom>
          <a:solidFill>
            <a:srgbClr val="FF6C37"/>
          </a:solidFill>
        </p:spPr>
      </p:sp>
      <p:pic>
        <p:nvPicPr>
          <p:cNvPr id="20" name="Image 0" descr="/home/claude/icons/gi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3732581"/>
            <a:ext cx="261518" cy="261518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463040" y="365760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4F5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CI/CD Pipeline — GitHub Actions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868680" y="4279392"/>
            <a:ext cx="73152" cy="73152"/>
          </a:xfrm>
          <a:prstGeom prst="ellipse">
            <a:avLst/>
          </a:prstGeom>
          <a:solidFill>
            <a:srgbClr val="FF6C37"/>
          </a:solidFill>
        </p:spPr>
      </p:sp>
      <p:sp>
        <p:nvSpPr>
          <p:cNvPr id="23" name="Text 20"/>
          <p:cNvSpPr/>
          <p:nvPr/>
        </p:nvSpPr>
        <p:spPr>
          <a:xfrm>
            <a:off x="1097280" y="4151376"/>
            <a:ext cx="5806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9A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يعمل تلقائيًا عند كل Push أو Pull Request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868680" y="4736592"/>
            <a:ext cx="73152" cy="73152"/>
          </a:xfrm>
          <a:prstGeom prst="ellipse">
            <a:avLst/>
          </a:prstGeom>
          <a:solidFill>
            <a:srgbClr val="FF6C37"/>
          </a:solidFill>
        </p:spPr>
      </p:sp>
      <p:sp>
        <p:nvSpPr>
          <p:cNvPr id="25" name="Text 22"/>
          <p:cNvSpPr/>
          <p:nvPr/>
        </p:nvSpPr>
        <p:spPr>
          <a:xfrm>
            <a:off x="1097280" y="4608576"/>
            <a:ext cx="5806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9A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تشغيل يومي مجدوَل (Cron) للتأكد من ثبات الـ API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868680" y="5193792"/>
            <a:ext cx="73152" cy="73152"/>
          </a:xfrm>
          <a:prstGeom prst="ellipse">
            <a:avLst/>
          </a:prstGeom>
          <a:solidFill>
            <a:srgbClr val="FF6C37"/>
          </a:solidFill>
        </p:spPr>
      </p:sp>
      <p:sp>
        <p:nvSpPr>
          <p:cNvPr id="27" name="Text 24"/>
          <p:cNvSpPr/>
          <p:nvPr/>
        </p:nvSpPr>
        <p:spPr>
          <a:xfrm>
            <a:off x="1097280" y="5065776"/>
            <a:ext cx="5806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9A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npm run test:report — تنفيذ الـ Collection + توليد تقرير HTML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868680" y="5650992"/>
            <a:ext cx="73152" cy="73152"/>
          </a:xfrm>
          <a:prstGeom prst="ellipse">
            <a:avLst/>
          </a:prstGeom>
          <a:solidFill>
            <a:srgbClr val="FF6C37"/>
          </a:solidFill>
        </p:spPr>
      </p:sp>
      <p:sp>
        <p:nvSpPr>
          <p:cNvPr id="29" name="Text 26"/>
          <p:cNvSpPr/>
          <p:nvPr/>
        </p:nvSpPr>
        <p:spPr>
          <a:xfrm>
            <a:off x="1097280" y="5522976"/>
            <a:ext cx="5806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9A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رفع التقرير كـ Artifact قابل للتحميل بعد كل تشغيلة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7223760" y="3383280"/>
            <a:ext cx="4389120" cy="2788920"/>
          </a:xfrm>
          <a:prstGeom prst="roundRect">
            <a:avLst>
              <a:gd name="adj" fmla="val 3279"/>
            </a:avLst>
          </a:prstGeom>
          <a:solidFill>
            <a:srgbClr val="1A1F2B"/>
          </a:solidFill>
        </p:spPr>
      </p:sp>
      <p:sp>
        <p:nvSpPr>
          <p:cNvPr id="31" name="Shape 28"/>
          <p:cNvSpPr/>
          <p:nvPr/>
        </p:nvSpPr>
        <p:spPr>
          <a:xfrm>
            <a:off x="7498080" y="3611880"/>
            <a:ext cx="502920" cy="502920"/>
          </a:xfrm>
          <a:prstGeom prst="ellipse">
            <a:avLst/>
          </a:prstGeom>
          <a:solidFill>
            <a:srgbClr val="3ECF8E"/>
          </a:solidFill>
        </p:spPr>
      </p:sp>
      <p:pic>
        <p:nvPicPr>
          <p:cNvPr id="32" name="Image 1" descr="/home/claude/icons/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8781" y="3732581"/>
            <a:ext cx="261518" cy="261518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8138160" y="3675888"/>
            <a:ext cx="3291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4F5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Suite Health</a:t>
            </a:r>
            <a:endParaRPr lang="en-US" sz="1400" dirty="0"/>
          </a:p>
        </p:txBody>
      </p:sp>
      <p:sp>
        <p:nvSpPr>
          <p:cNvPr id="34" name="Text 30"/>
          <p:cNvSpPr/>
          <p:nvPr/>
        </p:nvSpPr>
        <p:spPr>
          <a:xfrm>
            <a:off x="7498080" y="4251960"/>
            <a:ext cx="384048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9A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كل الـ 90 Request نجحت في آخر تشغيلة، بإجمالي 85 Assertion بدون أي Failure أو Skip — دليل على استقرار الـ Suite وجاهزيته للعمل كـ Regression Gate داخل الـ CI.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7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F6C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FINDINGS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F4F5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الأخطاء المكتشفة (Known Issues)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5486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38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Restful-Booker API — Test Project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28816"/>
            <a:ext cx="457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38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9A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الجدول التالي يوضح أهم الانحرافات بين السلوك المتوقع (REST Best Practices) والسلوك الفعلي للـ API، تم توثيقها كلها بنفس منهجية الـ Defect Report المعتمدة في خطة الاختبار.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/>
        </p:nvGraphicFramePr>
        <p:xfrm>
          <a:off x="548640" y="1783080"/>
          <a:ext cx="11064240" cy="4242816"/>
        </p:xfrm>
        <a:graphic>
          <a:graphicData uri="http://schemas.openxmlformats.org/drawingml/2006/table">
            <a:tbl>
              <a:tblPr/>
              <a:tblGrid>
                <a:gridCol w="3200400"/>
                <a:gridCol w="2651760"/>
                <a:gridCol w="3840480"/>
                <a:gridCol w="1371600"/>
              </a:tblGrid>
              <a:tr h="530352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100" b="1" dirty="0">
                          <a:solidFill>
                            <a:srgbClr val="6B7387"/>
                          </a:solidFill>
                        </a:rPr>
                        <a:t>الحالة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D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100" b="1" dirty="0">
                          <a:solidFill>
                            <a:srgbClr val="6B7387"/>
                          </a:solidFill>
                        </a:rPr>
                        <a:t>المتوقع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D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100" b="1" dirty="0">
                          <a:solidFill>
                            <a:srgbClr val="6B7387"/>
                          </a:solidFill>
                        </a:rPr>
                        <a:t>الفعلي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D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B7387"/>
                          </a:solidFill>
                        </a:rPr>
                        <a:t>الخطورة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D2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150" dirty="0">
                          <a:solidFill>
                            <a:srgbClr val="F4F5F8"/>
                          </a:solidFill>
                        </a:rPr>
                        <a:t>POST /auth ببيانات خاطئة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100" dirty="0">
                          <a:solidFill>
                            <a:srgbClr val="3ECF8E"/>
                          </a:solidFill>
                        </a:rPr>
                        <a:t>401 Unauthorized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100" dirty="0">
                          <a:solidFill>
                            <a:srgbClr val="FF5C5C"/>
                          </a:solidFill>
                        </a:rPr>
                        <a:t>200 OK + "Bad credentials"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C857"/>
                          </a:solidFill>
                        </a:rPr>
                        <a:t>Medium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230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150" dirty="0">
                          <a:solidFill>
                            <a:srgbClr val="F4F5F8"/>
                          </a:solidFill>
                        </a:rPr>
                        <a:t>POST /booking بدون حقول مطلوبة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100" dirty="0">
                          <a:solidFill>
                            <a:srgbClr val="3ECF8E"/>
                          </a:solidFill>
                        </a:rPr>
                        <a:t>400 Bad Request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100" dirty="0">
                          <a:solidFill>
                            <a:srgbClr val="FF5C5C"/>
                          </a:solidFill>
                        </a:rPr>
                        <a:t>500 Internal Server Error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5C5C"/>
                          </a:solidFill>
                        </a:rPr>
                        <a:t>High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150" dirty="0">
                          <a:solidFill>
                            <a:srgbClr val="F4F5F8"/>
                          </a:solidFill>
                        </a:rPr>
                        <a:t>checkin بعد checkout منطقيًا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100" dirty="0">
                          <a:solidFill>
                            <a:srgbClr val="3ECF8E"/>
                          </a:solidFill>
                        </a:rPr>
                        <a:t>رفض الطلب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100" dirty="0">
                          <a:solidFill>
                            <a:srgbClr val="FF5C5C"/>
                          </a:solidFill>
                        </a:rPr>
                        <a:t>الطلب يُقبل بدون تحقق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5C5C"/>
                          </a:solidFill>
                        </a:rPr>
                        <a:t>High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230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150" dirty="0">
                          <a:solidFill>
                            <a:srgbClr val="F4F5F8"/>
                          </a:solidFill>
                        </a:rPr>
                        <a:t>PUT /booking/{id} لـ ID غير موجود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100" dirty="0">
                          <a:solidFill>
                            <a:srgbClr val="3ECF8E"/>
                          </a:solidFill>
                        </a:rPr>
                        <a:t>404 Not Found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100" dirty="0">
                          <a:solidFill>
                            <a:srgbClr val="FF5C5C"/>
                          </a:solidFill>
                        </a:rPr>
                        <a:t>405 Method Not Allowed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C857"/>
                          </a:solidFill>
                        </a:rPr>
                        <a:t>Medium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150" dirty="0">
                          <a:solidFill>
                            <a:srgbClr val="F4F5F8"/>
                          </a:solidFill>
                        </a:rPr>
                        <a:t>PATCH بنوع بيانات خاطئ لـ totalprice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100" dirty="0">
                          <a:solidFill>
                            <a:srgbClr val="3ECF8E"/>
                          </a:solidFill>
                        </a:rPr>
                        <a:t>رفض الطلب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100" dirty="0">
                          <a:solidFill>
                            <a:srgbClr val="FF5C5C"/>
                          </a:solidFill>
                        </a:rPr>
                        <a:t>يُقبل، ثم يُسجَّل null في الرد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C857"/>
                          </a:solidFill>
                        </a:rPr>
                        <a:t>Medium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230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150" dirty="0">
                          <a:solidFill>
                            <a:srgbClr val="F4F5F8"/>
                          </a:solidFill>
                        </a:rPr>
                        <a:t>GET /booking?checkin=تاريخ غير صالح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100" dirty="0">
                          <a:solidFill>
                            <a:srgbClr val="3ECF8E"/>
                          </a:solidFill>
                        </a:rPr>
                        <a:t>400 Bad Request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100" dirty="0">
                          <a:solidFill>
                            <a:srgbClr val="FF5C5C"/>
                          </a:solidFill>
                        </a:rPr>
                        <a:t>500 Internal Server Error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C857"/>
                          </a:solidFill>
                        </a:rPr>
                        <a:t>Medium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150" dirty="0">
                          <a:solidFill>
                            <a:srgbClr val="F4F5F8"/>
                          </a:solidFill>
                        </a:rPr>
                        <a:t>DELETE لحجز محذوف مسبقًا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100" dirty="0">
                          <a:solidFill>
                            <a:srgbClr val="3ECF8E"/>
                          </a:solidFill>
                        </a:rPr>
                        <a:t>404 Not Found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100" dirty="0">
                          <a:solidFill>
                            <a:srgbClr val="FF5C5C"/>
                          </a:solidFill>
                        </a:rPr>
                        <a:t>405 Method Not Allowed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B7387"/>
                          </a:solidFill>
                        </a:rPr>
                        <a:t>Low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230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50" i="1" dirty="0">
                <a:solidFill>
                  <a:srgbClr val="6B738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القائمة الكاملة (14 حالة موثقة) متاحة في ملف README الخاص بمشروع الأتمتة.</a:t>
            </a:r>
            <a:endParaRPr lang="en-US" sz="10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7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F6C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DELIVERABLES &amp; TIMELINE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F4F5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المخرجات والجدول الزمني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5486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38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Restful-Booker API — Test Project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28816"/>
            <a:ext cx="457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38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440680" cy="4709160"/>
          </a:xfrm>
          <a:prstGeom prst="roundRect">
            <a:avLst>
              <a:gd name="adj" fmla="val 1942"/>
            </a:avLst>
          </a:prstGeom>
          <a:solidFill>
            <a:srgbClr val="1D2230"/>
          </a:solidFill>
        </p:spPr>
      </p:sp>
      <p:sp>
        <p:nvSpPr>
          <p:cNvPr id="7" name="Text 5"/>
          <p:cNvSpPr/>
          <p:nvPr/>
        </p:nvSpPr>
        <p:spPr>
          <a:xfrm>
            <a:off x="822960" y="1664208"/>
            <a:ext cx="4846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4F5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Deliverables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2148840"/>
            <a:ext cx="384048" cy="384048"/>
          </a:xfrm>
          <a:prstGeom prst="ellipse">
            <a:avLst/>
          </a:prstGeom>
          <a:solidFill>
            <a:srgbClr val="FF6C37"/>
          </a:solidFill>
        </p:spPr>
      </p:sp>
      <p:pic>
        <p:nvPicPr>
          <p:cNvPr id="9" name="Image 0" descr="/home/claude/icons/lis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5132" y="2241012"/>
            <a:ext cx="199705" cy="19970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53312" y="2130552"/>
            <a:ext cx="4480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4F5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Test Plan Document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353312" y="2386584"/>
            <a:ext cx="4480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هذه الوثيقة الكاملة (8 صفحات)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22960" y="2770632"/>
            <a:ext cx="384048" cy="384048"/>
          </a:xfrm>
          <a:prstGeom prst="ellipse">
            <a:avLst/>
          </a:prstGeom>
          <a:solidFill>
            <a:srgbClr val="FF6C37"/>
          </a:solidFill>
        </p:spPr>
      </p:sp>
      <p:pic>
        <p:nvPicPr>
          <p:cNvPr id="13" name="Image 1" descr="/home/claude/icons/s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132" y="2862804"/>
            <a:ext cx="199705" cy="19970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53312" y="2752344"/>
            <a:ext cx="4480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4F5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Postman Collection + Environment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1353312" y="3008376"/>
            <a:ext cx="4480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جاهزة للاستيراد والتشغيل المباشر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22960" y="3392424"/>
            <a:ext cx="384048" cy="384048"/>
          </a:xfrm>
          <a:prstGeom prst="ellipse">
            <a:avLst/>
          </a:prstGeom>
          <a:solidFill>
            <a:srgbClr val="FF6C37"/>
          </a:solidFill>
        </p:spPr>
      </p:sp>
      <p:pic>
        <p:nvPicPr>
          <p:cNvPr id="17" name="Image 2" descr="/home/claude/icons/g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132" y="3484596"/>
            <a:ext cx="199705" cy="19970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53312" y="3374136"/>
            <a:ext cx="4480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4F5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CI Pipeline (GitHub Actions)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353312" y="3630168"/>
            <a:ext cx="4480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تشغيل تلقائي عند كل Push / يوميًا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822960" y="4014216"/>
            <a:ext cx="384048" cy="384048"/>
          </a:xfrm>
          <a:prstGeom prst="ellipse">
            <a:avLst/>
          </a:prstGeom>
          <a:solidFill>
            <a:srgbClr val="FF6C37"/>
          </a:solidFill>
        </p:spPr>
      </p:sp>
      <p:pic>
        <p:nvPicPr>
          <p:cNvPr id="21" name="Image 3" descr="/home/claude/icons/activ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132" y="4106388"/>
            <a:ext cx="199705" cy="19970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53312" y="3995928"/>
            <a:ext cx="4480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4F5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Newman HTML Report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1353312" y="4251960"/>
            <a:ext cx="4480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تقرير تنفيذ تفصيلي لكل Run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822960" y="4636008"/>
            <a:ext cx="384048" cy="384048"/>
          </a:xfrm>
          <a:prstGeom prst="ellipse">
            <a:avLst/>
          </a:prstGeom>
          <a:solidFill>
            <a:srgbClr val="FF6C37"/>
          </a:solidFill>
        </p:spPr>
      </p:sp>
      <p:pic>
        <p:nvPicPr>
          <p:cNvPr id="25" name="Image 4" descr="/home/claude/icons/ale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5132" y="4728180"/>
            <a:ext cx="199705" cy="19970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353312" y="4617720"/>
            <a:ext cx="4480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4F5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Bug / Known Issues Log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1353312" y="4873752"/>
            <a:ext cx="4480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14 حالة موثقة بمنهجية Defect Report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6217920" y="1463040"/>
            <a:ext cx="5422392" cy="4709160"/>
          </a:xfrm>
          <a:prstGeom prst="roundRect">
            <a:avLst>
              <a:gd name="adj" fmla="val 1942"/>
            </a:avLst>
          </a:prstGeom>
          <a:solidFill>
            <a:srgbClr val="1D2230"/>
          </a:solidFill>
        </p:spPr>
      </p:sp>
      <p:sp>
        <p:nvSpPr>
          <p:cNvPr id="29" name="Text 22"/>
          <p:cNvSpPr/>
          <p:nvPr/>
        </p:nvSpPr>
        <p:spPr>
          <a:xfrm>
            <a:off x="6492240" y="1664208"/>
            <a:ext cx="4846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4F5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Suggested Timeline</a:t>
            </a:r>
            <a:endParaRPr lang="en-US" sz="1500" dirty="0"/>
          </a:p>
        </p:txBody>
      </p:sp>
      <p:sp>
        <p:nvSpPr>
          <p:cNvPr id="30" name="Shape 23"/>
          <p:cNvSpPr/>
          <p:nvPr/>
        </p:nvSpPr>
        <p:spPr>
          <a:xfrm>
            <a:off x="6537960" y="2194560"/>
            <a:ext cx="292608" cy="292608"/>
          </a:xfrm>
          <a:prstGeom prst="ellipse">
            <a:avLst/>
          </a:prstGeom>
          <a:solidFill>
            <a:srgbClr val="262C3D"/>
          </a:solidFill>
          <a:ln w="15875">
            <a:solidFill>
              <a:srgbClr val="FF6C37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6537960" y="2194560"/>
            <a:ext cx="29260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F5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6684264" y="2487168"/>
            <a:ext cx="0" cy="548640"/>
          </a:xfrm>
          <a:prstGeom prst="line">
            <a:avLst/>
          </a:prstGeom>
          <a:noFill/>
          <a:ln w="12700">
            <a:solidFill>
              <a:srgbClr val="343B4E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6995160" y="2167128"/>
            <a:ext cx="1280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6C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Day 1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8229600" y="2148840"/>
            <a:ext cx="33832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إعداد البيئة (Postman + Environment Variables)</a:t>
            </a:r>
            <a:endParaRPr lang="en-US" sz="1050" dirty="0"/>
          </a:p>
        </p:txBody>
      </p:sp>
      <p:sp>
        <p:nvSpPr>
          <p:cNvPr id="35" name="Shape 28"/>
          <p:cNvSpPr/>
          <p:nvPr/>
        </p:nvSpPr>
        <p:spPr>
          <a:xfrm>
            <a:off x="6537960" y="3035808"/>
            <a:ext cx="292608" cy="292608"/>
          </a:xfrm>
          <a:prstGeom prst="ellipse">
            <a:avLst/>
          </a:prstGeom>
          <a:solidFill>
            <a:srgbClr val="262C3D"/>
          </a:solidFill>
          <a:ln w="15875">
            <a:solidFill>
              <a:srgbClr val="FF6C37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6537960" y="3035808"/>
            <a:ext cx="29260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F5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6684264" y="3328416"/>
            <a:ext cx="0" cy="548640"/>
          </a:xfrm>
          <a:prstGeom prst="line">
            <a:avLst/>
          </a:prstGeom>
          <a:noFill/>
          <a:ln w="12700">
            <a:solidFill>
              <a:srgbClr val="343B4E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6995160" y="3008376"/>
            <a:ext cx="1280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6C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Day 2–4</a:t>
            </a:r>
            <a:endParaRPr lang="en-US" sz="1100" dirty="0"/>
          </a:p>
        </p:txBody>
      </p:sp>
      <p:sp>
        <p:nvSpPr>
          <p:cNvPr id="39" name="Text 32"/>
          <p:cNvSpPr/>
          <p:nvPr/>
        </p:nvSpPr>
        <p:spPr>
          <a:xfrm>
            <a:off x="8229600" y="2990088"/>
            <a:ext cx="33832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كتابة وتنفيذ Test Cases لكل Endpoint</a:t>
            </a:r>
            <a:endParaRPr lang="en-US" sz="1050" dirty="0"/>
          </a:p>
        </p:txBody>
      </p:sp>
      <p:sp>
        <p:nvSpPr>
          <p:cNvPr id="40" name="Shape 33"/>
          <p:cNvSpPr/>
          <p:nvPr/>
        </p:nvSpPr>
        <p:spPr>
          <a:xfrm>
            <a:off x="6537960" y="3877056"/>
            <a:ext cx="292608" cy="292608"/>
          </a:xfrm>
          <a:prstGeom prst="ellipse">
            <a:avLst/>
          </a:prstGeom>
          <a:solidFill>
            <a:srgbClr val="262C3D"/>
          </a:solidFill>
          <a:ln w="15875">
            <a:solidFill>
              <a:srgbClr val="FF6C37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6537960" y="3877056"/>
            <a:ext cx="29260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F5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100" dirty="0"/>
          </a:p>
        </p:txBody>
      </p:sp>
      <p:sp>
        <p:nvSpPr>
          <p:cNvPr id="42" name="Shape 35"/>
          <p:cNvSpPr/>
          <p:nvPr/>
        </p:nvSpPr>
        <p:spPr>
          <a:xfrm>
            <a:off x="6684264" y="4169664"/>
            <a:ext cx="0" cy="548640"/>
          </a:xfrm>
          <a:prstGeom prst="line">
            <a:avLst/>
          </a:prstGeom>
          <a:noFill/>
          <a:ln w="12700">
            <a:solidFill>
              <a:srgbClr val="343B4E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6995160" y="3849624"/>
            <a:ext cx="1280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6C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Day 5</a:t>
            </a:r>
            <a:endParaRPr lang="en-US" sz="1100" dirty="0"/>
          </a:p>
        </p:txBody>
      </p:sp>
      <p:sp>
        <p:nvSpPr>
          <p:cNvPr id="44" name="Text 37"/>
          <p:cNvSpPr/>
          <p:nvPr/>
        </p:nvSpPr>
        <p:spPr>
          <a:xfrm>
            <a:off x="8229600" y="3831336"/>
            <a:ext cx="33832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اختبارات Security &amp; Boundary</a:t>
            </a:r>
            <a:endParaRPr lang="en-US" sz="1050" dirty="0"/>
          </a:p>
        </p:txBody>
      </p:sp>
      <p:sp>
        <p:nvSpPr>
          <p:cNvPr id="45" name="Shape 38"/>
          <p:cNvSpPr/>
          <p:nvPr/>
        </p:nvSpPr>
        <p:spPr>
          <a:xfrm>
            <a:off x="6537960" y="4718304"/>
            <a:ext cx="292608" cy="292608"/>
          </a:xfrm>
          <a:prstGeom prst="ellipse">
            <a:avLst/>
          </a:prstGeom>
          <a:solidFill>
            <a:srgbClr val="262C3D"/>
          </a:solidFill>
          <a:ln w="15875">
            <a:solidFill>
              <a:srgbClr val="FF6C37"/>
            </a:solidFill>
            <a:prstDash val="solid"/>
          </a:ln>
        </p:spPr>
      </p:sp>
      <p:sp>
        <p:nvSpPr>
          <p:cNvPr id="46" name="Text 39"/>
          <p:cNvSpPr/>
          <p:nvPr/>
        </p:nvSpPr>
        <p:spPr>
          <a:xfrm>
            <a:off x="6537960" y="4718304"/>
            <a:ext cx="29260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F5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100" dirty="0"/>
          </a:p>
        </p:txBody>
      </p:sp>
      <p:sp>
        <p:nvSpPr>
          <p:cNvPr id="47" name="Shape 40"/>
          <p:cNvSpPr/>
          <p:nvPr/>
        </p:nvSpPr>
        <p:spPr>
          <a:xfrm>
            <a:off x="6684264" y="5010912"/>
            <a:ext cx="0" cy="548640"/>
          </a:xfrm>
          <a:prstGeom prst="line">
            <a:avLst/>
          </a:prstGeom>
          <a:noFill/>
          <a:ln w="12700">
            <a:solidFill>
              <a:srgbClr val="343B4E"/>
            </a:solidFill>
            <a:prstDash val="solid"/>
          </a:ln>
        </p:spPr>
      </p:sp>
      <p:sp>
        <p:nvSpPr>
          <p:cNvPr id="48" name="Text 41"/>
          <p:cNvSpPr/>
          <p:nvPr/>
        </p:nvSpPr>
        <p:spPr>
          <a:xfrm>
            <a:off x="6995160" y="4690872"/>
            <a:ext cx="1280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6C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Day 6–7</a:t>
            </a:r>
            <a:endParaRPr lang="en-US" sz="1100" dirty="0"/>
          </a:p>
        </p:txBody>
      </p:sp>
      <p:sp>
        <p:nvSpPr>
          <p:cNvPr id="49" name="Text 42"/>
          <p:cNvSpPr/>
          <p:nvPr/>
        </p:nvSpPr>
        <p:spPr>
          <a:xfrm>
            <a:off x="8229600" y="4672584"/>
            <a:ext cx="33832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سيناريوهات End-to-End + Automation</a:t>
            </a:r>
            <a:endParaRPr lang="en-US" sz="1050" dirty="0"/>
          </a:p>
        </p:txBody>
      </p:sp>
      <p:sp>
        <p:nvSpPr>
          <p:cNvPr id="50" name="Shape 43"/>
          <p:cNvSpPr/>
          <p:nvPr/>
        </p:nvSpPr>
        <p:spPr>
          <a:xfrm>
            <a:off x="6537960" y="5559552"/>
            <a:ext cx="292608" cy="292608"/>
          </a:xfrm>
          <a:prstGeom prst="ellipse">
            <a:avLst/>
          </a:prstGeom>
          <a:solidFill>
            <a:srgbClr val="3ECF8E"/>
          </a:solidFill>
          <a:ln w="15875">
            <a:solidFill>
              <a:srgbClr val="FF6C37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6537960" y="5559552"/>
            <a:ext cx="29260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F5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</a:t>
            </a:r>
            <a:endParaRPr lang="en-US" sz="1100" dirty="0"/>
          </a:p>
        </p:txBody>
      </p:sp>
      <p:sp>
        <p:nvSpPr>
          <p:cNvPr id="52" name="Text 45"/>
          <p:cNvSpPr/>
          <p:nvPr/>
        </p:nvSpPr>
        <p:spPr>
          <a:xfrm>
            <a:off x="6995160" y="5532120"/>
            <a:ext cx="1280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6C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Day 8</a:t>
            </a:r>
            <a:endParaRPr lang="en-US" sz="1100" dirty="0"/>
          </a:p>
        </p:txBody>
      </p:sp>
      <p:sp>
        <p:nvSpPr>
          <p:cNvPr id="53" name="Text 46"/>
          <p:cNvSpPr/>
          <p:nvPr/>
        </p:nvSpPr>
        <p:spPr>
          <a:xfrm>
            <a:off x="8229600" y="5513832"/>
            <a:ext cx="33832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توثيق النتائج والأخطاء + التقرير النهائي</a:t>
            </a:r>
            <a:endParaRPr lang="en-US" sz="10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7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37276" y="1371600"/>
            <a:ext cx="914400" cy="914400"/>
          </a:xfrm>
          <a:prstGeom prst="ellipse">
            <a:avLst/>
          </a:prstGeom>
          <a:solidFill>
            <a:srgbClr val="3ECF8E"/>
          </a:solidFill>
        </p:spPr>
      </p:sp>
      <p:pic>
        <p:nvPicPr>
          <p:cNvPr id="3" name="Image 0" descr="/home/claude/icons/che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6732" y="1591056"/>
            <a:ext cx="475488" cy="475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514600"/>
            <a:ext cx="12188952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4F5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شكرًا لكم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0" y="3246120"/>
            <a:ext cx="12188952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A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Restful-Booker API — Testing Project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631436" y="3886200"/>
            <a:ext cx="2926080" cy="0"/>
          </a:xfrm>
          <a:prstGeom prst="line">
            <a:avLst/>
          </a:prstGeom>
          <a:noFill/>
          <a:ln w="12700">
            <a:solidFill>
              <a:srgbClr val="343B4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985516" y="4206240"/>
            <a:ext cx="1554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4D1B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90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2985516" y="4709160"/>
            <a:ext cx="1554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9A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Requests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39996" y="4206240"/>
            <a:ext cx="1554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4D1B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85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4539996" y="4709160"/>
            <a:ext cx="1554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9A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Assertions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094476" y="4206240"/>
            <a:ext cx="1554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4D1B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6094476" y="4709160"/>
            <a:ext cx="1554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9A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Failures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648956" y="4206240"/>
            <a:ext cx="1554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4D1B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7648956" y="4709160"/>
            <a:ext cx="1554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9A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Test Suites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0" y="5943600"/>
            <a:ext cx="1218895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38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Ibrahim Ahmed  ·  QA / API Testing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24886</Words>
  <Application>WPS Presentation</Application>
  <PresentationFormat>On-screen Show (16:9)</PresentationFormat>
  <Paragraphs>1756</Paragraphs>
  <Slides>44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44</vt:i4>
      </vt:variant>
    </vt:vector>
  </HeadingPairs>
  <TitlesOfParts>
    <vt:vector size="64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Microsoft YaHei</vt:lpstr>
      <vt:lpstr>Arial Unicode MS</vt:lpstr>
      <vt:lpstr>Arial</vt:lpstr>
      <vt:lpstr>Arial</vt:lpstr>
      <vt:lpstr>Arial</vt:lpstr>
      <vt:lpstr>Courier New</vt:lpstr>
      <vt:lpstr>Courier New</vt:lpstr>
      <vt:lpstr>Courier New</vt:lpstr>
      <vt:lpstr>Office Theme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WPS_1776775579</cp:lastModifiedBy>
  <cp:revision>2</cp:revision>
  <dcterms:created xsi:type="dcterms:W3CDTF">2026-07-10T07:55:00Z</dcterms:created>
  <dcterms:modified xsi:type="dcterms:W3CDTF">2026-07-10T10:55:59Z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9F7F952DBDC74685870552E02EEE30FD_12</vt:lpwstr>
  </property>
  <property fmtid="{D5CDD505-2E9C-101B-9397-08002B2CF9AE}" pid="3" name="KSOProductBuildVer">
    <vt:lpwstr>1033-12.1.0.26880</vt:lpwstr>
  </property>
</Properties>
</file>